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5143500" cx="9144000"/>
  <p:notesSz cx="6858000" cy="9144000"/>
  <p:embeddedFontLst>
    <p:embeddedFont>
      <p:font typeface="Gill San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GillSans-regular.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GillSans-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79b187f17e_0_2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79b187f17e_0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9b187f17e_0_24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79b187f17e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9b187f17e_0_25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79b187f17e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9b187f17e_0_26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79b187f17e_0_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9b187f17e_0_26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79b187f17e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9b187f17e_0_2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79b187f17e_0_2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79b187f17e_0_28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79b187f17e_0_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79b187f17e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79b187f17e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9b187f17e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79b187f17e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9b187f17e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9b187f17e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9b187f17e_0_30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79b187f17e_0_3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79b187f17e_0_3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79b187f17e_0_3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79b187f17e_0_3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79b187f17e_0_3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9b187f17e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79b187f17e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9b187f17e_0_3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79b187f17e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79b187f17e_0_3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79b187f17e_0_3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79b187f17e_0_3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79b187f17e_0_3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79b187f17e_0_3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79b187f17e_0_3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79b187f17e_0_35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379b187f17e_0_3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79b187f17e_0_36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79b187f17e_0_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79b187f17e_0_36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79b187f17e_0_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56" name="Shape 56"/>
        <p:cNvGrpSpPr/>
        <p:nvPr/>
      </p:nvGrpSpPr>
      <p:grpSpPr>
        <a:xfrm>
          <a:off x="0" y="0"/>
          <a:ext cx="0" cy="0"/>
          <a:chOff x="0" y="0"/>
          <a:chExt cx="0" cy="0"/>
        </a:xfrm>
      </p:grpSpPr>
      <p:sp>
        <p:nvSpPr>
          <p:cNvPr id="57" name="Google Shape;57;p14"/>
          <p:cNvSpPr txBox="1"/>
          <p:nvPr>
            <p:ph type="ctrTitle"/>
          </p:nvPr>
        </p:nvSpPr>
        <p:spPr>
          <a:xfrm>
            <a:off x="1102240" y="1790058"/>
            <a:ext cx="6939600" cy="12345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500"/>
              <a:buFont typeface="Gill Sans"/>
              <a:buNone/>
              <a:defRPr sz="35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 type="subTitle"/>
          </p:nvPr>
        </p:nvSpPr>
        <p:spPr>
          <a:xfrm>
            <a:off x="2021396" y="3264408"/>
            <a:ext cx="5101200" cy="9300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1900"/>
              <a:buNone/>
              <a:defRPr sz="1900">
                <a:solidFill>
                  <a:srgbClr val="FEFEFE"/>
                </a:solidFil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59" name="Google Shape;59;p14"/>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6"/>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71" name="Google Shape;71;p16"/>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74" name="Shape 74"/>
        <p:cNvGrpSpPr/>
        <p:nvPr/>
      </p:nvGrpSpPr>
      <p:grpSpPr>
        <a:xfrm>
          <a:off x="0" y="0"/>
          <a:ext cx="0" cy="0"/>
          <a:chOff x="0" y="0"/>
          <a:chExt cx="0" cy="0"/>
        </a:xfrm>
      </p:grpSpPr>
      <p:sp>
        <p:nvSpPr>
          <p:cNvPr id="75" name="Google Shape;75;p17"/>
          <p:cNvSpPr txBox="1"/>
          <p:nvPr>
            <p:ph type="ctrTitle"/>
          </p:nvPr>
        </p:nvSpPr>
        <p:spPr>
          <a:xfrm>
            <a:off x="1102240" y="1790058"/>
            <a:ext cx="6939600" cy="12345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500"/>
              <a:buFont typeface="Gill Sans"/>
              <a:buNone/>
              <a:defRPr sz="35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subTitle"/>
          </p:nvPr>
        </p:nvSpPr>
        <p:spPr>
          <a:xfrm>
            <a:off x="2021396" y="3264408"/>
            <a:ext cx="5101200" cy="9300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1900"/>
              <a:buNone/>
              <a:defRPr sz="1900">
                <a:solidFill>
                  <a:srgbClr val="FEFEFE"/>
                </a:solidFil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77" name="Google Shape;77;p17"/>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80" name="Shape 80"/>
        <p:cNvGrpSpPr/>
        <p:nvPr/>
      </p:nvGrpSpPr>
      <p:grpSpPr>
        <a:xfrm>
          <a:off x="0" y="0"/>
          <a:ext cx="0" cy="0"/>
          <a:chOff x="0" y="0"/>
          <a:chExt cx="0" cy="0"/>
        </a:xfrm>
      </p:grpSpPr>
      <p:sp>
        <p:nvSpPr>
          <p:cNvPr id="81" name="Google Shape;81;p18"/>
          <p:cNvSpPr txBox="1"/>
          <p:nvPr>
            <p:ph type="title"/>
          </p:nvPr>
        </p:nvSpPr>
        <p:spPr>
          <a:xfrm>
            <a:off x="1106424" y="1790058"/>
            <a:ext cx="6940200" cy="123450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500"/>
              <a:buFont typeface="Gill Sans"/>
              <a:buNone/>
              <a:defRPr sz="35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8"/>
          <p:cNvSpPr txBox="1"/>
          <p:nvPr>
            <p:ph idx="1" type="body"/>
          </p:nvPr>
        </p:nvSpPr>
        <p:spPr>
          <a:xfrm>
            <a:off x="2021396" y="3264349"/>
            <a:ext cx="5101200" cy="948900"/>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1900"/>
              <a:buNone/>
              <a:defRPr sz="1900">
                <a:solidFill>
                  <a:schemeClr val="lt1"/>
                </a:solidFill>
              </a:defRPr>
            </a:lvl1pPr>
            <a:lvl2pPr indent="-228600" lvl="1" marL="914400" algn="l">
              <a:lnSpc>
                <a:spcPct val="100000"/>
              </a:lnSpc>
              <a:spcBef>
                <a:spcPts val="1000"/>
              </a:spcBef>
              <a:spcAft>
                <a:spcPts val="0"/>
              </a:spcAft>
              <a:buSzPts val="1900"/>
              <a:buNone/>
              <a:defRPr sz="19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83" name="Google Shape;83;p18"/>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19"/>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9"/>
          <p:cNvSpPr txBox="1"/>
          <p:nvPr>
            <p:ph idx="1" type="body"/>
          </p:nvPr>
        </p:nvSpPr>
        <p:spPr>
          <a:xfrm>
            <a:off x="1102239" y="1978533"/>
            <a:ext cx="3288000" cy="23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9" name="Google Shape;89;p19"/>
          <p:cNvSpPr txBox="1"/>
          <p:nvPr>
            <p:ph idx="2" type="body"/>
          </p:nvPr>
        </p:nvSpPr>
        <p:spPr>
          <a:xfrm>
            <a:off x="4753737" y="1978533"/>
            <a:ext cx="3290400" cy="23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0" name="Google Shape;90;p19"/>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9"/>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20"/>
          <p:cNvSpPr txBox="1"/>
          <p:nvPr>
            <p:ph idx="1" type="body"/>
          </p:nvPr>
        </p:nvSpPr>
        <p:spPr>
          <a:xfrm>
            <a:off x="1102239" y="1735076"/>
            <a:ext cx="3288000" cy="528000"/>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95" name="Google Shape;95;p20"/>
          <p:cNvSpPr txBox="1"/>
          <p:nvPr>
            <p:ph idx="2" type="body"/>
          </p:nvPr>
        </p:nvSpPr>
        <p:spPr>
          <a:xfrm>
            <a:off x="1102239" y="2357438"/>
            <a:ext cx="3288000" cy="1947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6" name="Google Shape;96;p20"/>
          <p:cNvSpPr txBox="1"/>
          <p:nvPr>
            <p:ph idx="3" type="body"/>
          </p:nvPr>
        </p:nvSpPr>
        <p:spPr>
          <a:xfrm>
            <a:off x="4753737" y="2357438"/>
            <a:ext cx="3290400" cy="1947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7" name="Google Shape;97;p20"/>
          <p:cNvSpPr txBox="1"/>
          <p:nvPr>
            <p:ph idx="4" type="body"/>
          </p:nvPr>
        </p:nvSpPr>
        <p:spPr>
          <a:xfrm>
            <a:off x="4753737" y="1735076"/>
            <a:ext cx="3290400" cy="528000"/>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98" name="Google Shape;98;p20"/>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0"/>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0"/>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
        <p:nvSpPr>
          <p:cNvPr id="101" name="Google Shape;101;p20"/>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1"/>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21"/>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1"/>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22"/>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2"/>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2"/>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23"/>
          <p:cNvSpPr/>
          <p:nvPr/>
        </p:nvSpPr>
        <p:spPr>
          <a:xfrm>
            <a:off x="0" y="0"/>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3"/>
          <p:cNvSpPr txBox="1"/>
          <p:nvPr>
            <p:ph type="title"/>
          </p:nvPr>
        </p:nvSpPr>
        <p:spPr>
          <a:xfrm>
            <a:off x="640703" y="1682872"/>
            <a:ext cx="3290700" cy="85620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100"/>
              <a:buFont typeface="Gill Sans"/>
              <a:buNone/>
              <a:defRPr sz="21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23"/>
          <p:cNvSpPr txBox="1"/>
          <p:nvPr>
            <p:ph idx="1" type="body"/>
          </p:nvPr>
        </p:nvSpPr>
        <p:spPr>
          <a:xfrm>
            <a:off x="5052060" y="603504"/>
            <a:ext cx="3612000" cy="3936600"/>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115" name="Google Shape;115;p23"/>
          <p:cNvSpPr txBox="1"/>
          <p:nvPr>
            <p:ph idx="2" type="body"/>
          </p:nvPr>
        </p:nvSpPr>
        <p:spPr>
          <a:xfrm>
            <a:off x="862965" y="2662438"/>
            <a:ext cx="2846100" cy="1645500"/>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116" name="Google Shape;116;p23"/>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640703" y="4677156"/>
            <a:ext cx="3806400" cy="240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9" name="Shape 119"/>
        <p:cNvGrpSpPr/>
        <p:nvPr/>
      </p:nvGrpSpPr>
      <p:grpSpPr>
        <a:xfrm>
          <a:off x="0" y="0"/>
          <a:ext cx="0" cy="0"/>
          <a:chOff x="0" y="0"/>
          <a:chExt cx="0" cy="0"/>
        </a:xfrm>
      </p:grpSpPr>
      <p:sp>
        <p:nvSpPr>
          <p:cNvPr id="120" name="Google Shape;120;p24"/>
          <p:cNvSpPr/>
          <p:nvPr/>
        </p:nvSpPr>
        <p:spPr>
          <a:xfrm>
            <a:off x="1" y="0"/>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4"/>
          <p:cNvSpPr txBox="1"/>
          <p:nvPr>
            <p:ph type="title"/>
          </p:nvPr>
        </p:nvSpPr>
        <p:spPr>
          <a:xfrm>
            <a:off x="640080" y="1682871"/>
            <a:ext cx="3291900" cy="857400"/>
          </a:xfrm>
          <a:prstGeom prst="rect">
            <a:avLst/>
          </a:prstGeom>
          <a:solidFill>
            <a:srgbClr val="FFFFFF"/>
          </a:solidFill>
          <a:ln cap="flat" cmpd="sng" w="9525">
            <a:solidFill>
              <a:srgbClr val="262626"/>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100"/>
              <a:buFont typeface="Gill Sans"/>
              <a:buNone/>
              <a:defRPr sz="21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4"/>
          <p:cNvSpPr/>
          <p:nvPr>
            <p:ph idx="2" type="pic"/>
          </p:nvPr>
        </p:nvSpPr>
        <p:spPr>
          <a:xfrm>
            <a:off x="4572000" y="-31629"/>
            <a:ext cx="4576500" cy="5143500"/>
          </a:xfrm>
          <a:prstGeom prst="rect">
            <a:avLst/>
          </a:prstGeom>
          <a:solidFill>
            <a:srgbClr val="BFBFBF"/>
          </a:solidFill>
          <a:ln>
            <a:noFill/>
          </a:ln>
        </p:spPr>
      </p:sp>
      <p:sp>
        <p:nvSpPr>
          <p:cNvPr id="123" name="Google Shape;123;p24"/>
          <p:cNvSpPr txBox="1"/>
          <p:nvPr>
            <p:ph idx="1" type="body"/>
          </p:nvPr>
        </p:nvSpPr>
        <p:spPr>
          <a:xfrm>
            <a:off x="862965" y="2662439"/>
            <a:ext cx="2846100" cy="1645500"/>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124" name="Google Shape;124;p24"/>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4"/>
          <p:cNvSpPr txBox="1"/>
          <p:nvPr>
            <p:ph idx="11" type="ftr"/>
          </p:nvPr>
        </p:nvSpPr>
        <p:spPr>
          <a:xfrm>
            <a:off x="640080" y="4677156"/>
            <a:ext cx="3804000" cy="240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4"/>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25"/>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25"/>
          <p:cNvSpPr txBox="1"/>
          <p:nvPr>
            <p:ph idx="1" type="body"/>
          </p:nvPr>
        </p:nvSpPr>
        <p:spPr>
          <a:xfrm rot="5400000">
            <a:off x="3411600" y="172834"/>
            <a:ext cx="2326500" cy="59379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30" name="Google Shape;130;p25"/>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5"/>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5"/>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3" name="Shape 133"/>
        <p:cNvGrpSpPr/>
        <p:nvPr/>
      </p:nvGrpSpPr>
      <p:grpSpPr>
        <a:xfrm>
          <a:off x="0" y="0"/>
          <a:ext cx="0" cy="0"/>
          <a:chOff x="0" y="0"/>
          <a:chExt cx="0" cy="0"/>
        </a:xfrm>
      </p:grpSpPr>
      <p:sp>
        <p:nvSpPr>
          <p:cNvPr id="134" name="Google Shape;134;p26"/>
          <p:cNvSpPr txBox="1"/>
          <p:nvPr>
            <p:ph type="title"/>
          </p:nvPr>
        </p:nvSpPr>
        <p:spPr>
          <a:xfrm rot="5400000">
            <a:off x="5148000" y="2044845"/>
            <a:ext cx="3737700" cy="10539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26"/>
          <p:cNvSpPr txBox="1"/>
          <p:nvPr>
            <p:ph idx="1" type="body"/>
          </p:nvPr>
        </p:nvSpPr>
        <p:spPr>
          <a:xfrm rot="5400000">
            <a:off x="2095220" y="213645"/>
            <a:ext cx="3737700" cy="47163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36" name="Google Shape;136;p26"/>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6"/>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6"/>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algn="ctr">
              <a:lnSpc>
                <a:spcPct val="90000"/>
              </a:lnSpc>
              <a:spcBef>
                <a:spcPts val="0"/>
              </a:spcBef>
              <a:spcAft>
                <a:spcPts val="0"/>
              </a:spcAft>
              <a:buClr>
                <a:srgbClr val="262626"/>
              </a:buClr>
              <a:buSzPts val="2600"/>
              <a:buFont typeface="Gill Sans"/>
              <a:buNone/>
              <a:defRPr b="0" i="0" sz="26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Gill Sans"/>
                <a:ea typeface="Gill Sans"/>
                <a:cs typeface="Gill Sans"/>
                <a:sym typeface="Gill Sans"/>
              </a:defRPr>
            </a:lvl1pPr>
            <a:lvl2pPr indent="-330200" lvl="1" marL="914400" marR="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2pPr>
            <a:lvl3pPr indent="-330200" lvl="2" marL="1371600" marR="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3pPr>
            <a:lvl4pPr indent="-330200" lvl="3" marL="1828800" marR="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4pPr>
            <a:lvl5pPr indent="-330200" lvl="4" marL="2286000" marR="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5pPr>
            <a:lvl6pPr indent="-330200" lvl="5" marL="2743200" marR="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6pPr>
            <a:lvl7pPr indent="-330200" lvl="6" marL="3200400" marR="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7pPr>
            <a:lvl8pPr indent="-330200" lvl="7" marL="3657600" marR="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8pPr>
            <a:lvl9pPr indent="-330200" lvl="8" marL="4114800" marR="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9pPr>
          </a:lstStyle>
          <a:p/>
        </p:txBody>
      </p:sp>
      <p:sp>
        <p:nvSpPr>
          <p:cNvPr id="53" name="Google Shape;53;p13"/>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1000" u="none" cap="none" strike="noStrike">
                <a:solidFill>
                  <a:schemeClr val="lt1"/>
                </a:solidFill>
                <a:latin typeface="Gill Sans"/>
                <a:ea typeface="Gill Sans"/>
                <a:cs typeface="Gill Sans"/>
                <a:sym typeface="Gill Sans"/>
              </a:defRPr>
            </a:lvl1pPr>
            <a:lvl2pPr lvl="1"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54" name="Google Shape;54;p13"/>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000" u="none" cap="none" strike="noStrike">
                <a:solidFill>
                  <a:schemeClr val="lt1"/>
                </a:solidFill>
                <a:latin typeface="Gill Sans"/>
                <a:ea typeface="Gill Sans"/>
                <a:cs typeface="Gill Sans"/>
                <a:sym typeface="Gill Sans"/>
              </a:defRPr>
            </a:lvl1pPr>
            <a:lvl2pPr lvl="1"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55" name="Google Shape;55;p13"/>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marR="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62" name="Shape 62"/>
        <p:cNvGrpSpPr/>
        <p:nvPr/>
      </p:nvGrpSpPr>
      <p:grpSpPr>
        <a:xfrm>
          <a:off x="0" y="0"/>
          <a:ext cx="0" cy="0"/>
          <a:chOff x="0" y="0"/>
          <a:chExt cx="0" cy="0"/>
        </a:xfrm>
      </p:grpSpPr>
      <p:sp>
        <p:nvSpPr>
          <p:cNvPr id="63" name="Google Shape;63;p15"/>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algn="ctr">
              <a:lnSpc>
                <a:spcPct val="90000"/>
              </a:lnSpc>
              <a:spcBef>
                <a:spcPts val="0"/>
              </a:spcBef>
              <a:spcAft>
                <a:spcPts val="0"/>
              </a:spcAft>
              <a:buClr>
                <a:srgbClr val="262626"/>
              </a:buClr>
              <a:buSzPts val="2600"/>
              <a:buFont typeface="Gill Sans"/>
              <a:buNone/>
              <a:defRPr b="0" i="0" sz="26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15"/>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a:bodyPr>
          <a:lstStyle>
            <a:lvl1pPr indent="-342900" lvl="0" marL="457200" marR="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Gill Sans"/>
                <a:ea typeface="Gill Sans"/>
                <a:cs typeface="Gill Sans"/>
                <a:sym typeface="Gill Sans"/>
              </a:defRPr>
            </a:lvl1pPr>
            <a:lvl2pPr indent="-330200" lvl="1" marL="914400" marR="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2pPr>
            <a:lvl3pPr indent="-330200" lvl="2" marL="1371600" marR="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3pPr>
            <a:lvl4pPr indent="-330200" lvl="3" marL="1828800" marR="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4pPr>
            <a:lvl5pPr indent="-330200" lvl="4" marL="2286000" marR="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5pPr>
            <a:lvl6pPr indent="-330200" lvl="5" marL="2743200" marR="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6pPr>
            <a:lvl7pPr indent="-330200" lvl="6" marL="3200400" marR="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7pPr>
            <a:lvl8pPr indent="-330200" lvl="7" marL="3657600" marR="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8pPr>
            <a:lvl9pPr indent="-330200" lvl="8" marL="4114800" marR="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9pPr>
          </a:lstStyle>
          <a:p/>
        </p:txBody>
      </p:sp>
      <p:sp>
        <p:nvSpPr>
          <p:cNvPr id="65" name="Google Shape;65;p15"/>
          <p:cNvSpPr txBox="1"/>
          <p:nvPr>
            <p:ph idx="10" type="dt"/>
          </p:nvPr>
        </p:nvSpPr>
        <p:spPr>
          <a:xfrm>
            <a:off x="5978943" y="4679112"/>
            <a:ext cx="2065200" cy="2430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1000" u="none" cap="none" strike="noStrike">
                <a:solidFill>
                  <a:schemeClr val="dk1"/>
                </a:solidFill>
                <a:latin typeface="Gill Sans"/>
                <a:ea typeface="Gill Sans"/>
                <a:cs typeface="Gill Sans"/>
                <a:sym typeface="Gill Sans"/>
              </a:defRPr>
            </a:lvl1pPr>
            <a:lvl2pPr lvl="1"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66" name="Google Shape;66;p15"/>
          <p:cNvSpPr txBox="1"/>
          <p:nvPr>
            <p:ph idx="11" type="ftr"/>
          </p:nvPr>
        </p:nvSpPr>
        <p:spPr>
          <a:xfrm>
            <a:off x="1102239" y="4677156"/>
            <a:ext cx="4556700" cy="2400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000" u="none" cap="none" strike="noStrike">
                <a:solidFill>
                  <a:schemeClr val="dk1"/>
                </a:solidFill>
                <a:latin typeface="Gill Sans"/>
                <a:ea typeface="Gill Sans"/>
                <a:cs typeface="Gill Sans"/>
                <a:sym typeface="Gill Sans"/>
              </a:defRPr>
            </a:lvl1pPr>
            <a:lvl2pPr lvl="1"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67" name="Google Shape;67;p15"/>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lvl1pPr indent="0" lvl="0" marL="0" marR="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hyperlink" Target="https://arxiv.org/abs/2508.02232v1" TargetMode="External"/><Relationship Id="rId4" Type="http://schemas.openxmlformats.org/officeDocument/2006/relationships/hyperlink" Target="https://arxiv.org/pdf/2508.0223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27"/>
          <p:cNvSpPr txBox="1"/>
          <p:nvPr>
            <p:ph type="ctrTitle"/>
          </p:nvPr>
        </p:nvSpPr>
        <p:spPr>
          <a:xfrm>
            <a:off x="143275" y="119775"/>
            <a:ext cx="3593400" cy="1472700"/>
          </a:xfrm>
          <a:prstGeom prst="rect">
            <a:avLst/>
          </a:prstGeom>
          <a:solidFill>
            <a:srgbClr val="FFFFFF"/>
          </a:solidFill>
          <a:ln cap="flat" cmpd="sng" w="38100">
            <a:solidFill>
              <a:srgbClr val="404040"/>
            </a:solidFill>
            <a:prstDash val="solid"/>
            <a:round/>
            <a:headEnd len="sm" w="sm" type="none"/>
            <a:tailEnd len="sm" w="sm" type="none"/>
          </a:ln>
          <a:effectLst>
            <a:outerShdw blurRad="57150" rotWithShape="0" algn="bl" dir="5400000" dist="19050">
              <a:srgbClr val="000000">
                <a:alpha val="27000"/>
              </a:srgbClr>
            </a:outerShdw>
          </a:effectLst>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5300"/>
              <a:buFont typeface="Gill Sans"/>
              <a:buNone/>
            </a:pPr>
            <a:r>
              <a:rPr lang="en" sz="3000" u="sng"/>
              <a:t>PAPER REVIEW PRESENTATION</a:t>
            </a:r>
            <a:endParaRPr sz="3000"/>
          </a:p>
        </p:txBody>
      </p:sp>
      <p:sp>
        <p:nvSpPr>
          <p:cNvPr id="144" name="Google Shape;144;p27"/>
          <p:cNvSpPr txBox="1"/>
          <p:nvPr>
            <p:ph idx="1" type="subTitle"/>
          </p:nvPr>
        </p:nvSpPr>
        <p:spPr>
          <a:xfrm>
            <a:off x="72024" y="1679079"/>
            <a:ext cx="3887700" cy="451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900"/>
              <a:buNone/>
            </a:pPr>
            <a:r>
              <a:rPr lang="en">
                <a:solidFill>
                  <a:schemeClr val="dk1"/>
                </a:solidFill>
              </a:rPr>
              <a:t>Course: HCI – MS Program, UIU</a:t>
            </a:r>
            <a:endParaRPr>
              <a:solidFill>
                <a:schemeClr val="dk1"/>
              </a:solidFill>
            </a:endParaRPr>
          </a:p>
        </p:txBody>
      </p:sp>
      <p:sp>
        <p:nvSpPr>
          <p:cNvPr id="145" name="Google Shape;145;p27"/>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grpSp>
        <p:nvGrpSpPr>
          <p:cNvPr id="150" name="Google Shape;150;p28"/>
          <p:cNvGrpSpPr/>
          <p:nvPr/>
        </p:nvGrpSpPr>
        <p:grpSpPr>
          <a:xfrm>
            <a:off x="1948429" y="979040"/>
            <a:ext cx="4775250" cy="1236917"/>
            <a:chOff x="2" y="-435150"/>
            <a:chExt cx="9550500" cy="3298446"/>
          </a:xfrm>
        </p:grpSpPr>
        <p:sp>
          <p:nvSpPr>
            <p:cNvPr id="151" name="Google Shape;151;p28"/>
            <p:cNvSpPr txBox="1"/>
            <p:nvPr/>
          </p:nvSpPr>
          <p:spPr>
            <a:xfrm>
              <a:off x="2032696" y="-435150"/>
              <a:ext cx="5770800" cy="13134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None/>
              </a:pPr>
              <a:r>
                <a:rPr b="1" i="0" lang="en" sz="3200" u="none" cap="none" strike="noStrike">
                  <a:solidFill>
                    <a:srgbClr val="231F20"/>
                  </a:solidFill>
                  <a:latin typeface="Gill Sans"/>
                  <a:ea typeface="Gill Sans"/>
                  <a:cs typeface="Gill Sans"/>
                  <a:sym typeface="Gill Sans"/>
                </a:rPr>
                <a:t>Presented To</a:t>
              </a:r>
              <a:endParaRPr b="1" i="0" sz="3200" u="none" cap="none" strike="noStrike">
                <a:solidFill>
                  <a:srgbClr val="231F20"/>
                </a:solidFill>
                <a:latin typeface="Gill Sans"/>
                <a:ea typeface="Gill Sans"/>
                <a:cs typeface="Gill Sans"/>
                <a:sym typeface="Gill Sans"/>
              </a:endParaRPr>
            </a:p>
          </p:txBody>
        </p:sp>
        <p:sp>
          <p:nvSpPr>
            <p:cNvPr id="152" name="Google Shape;152;p28"/>
            <p:cNvSpPr txBox="1"/>
            <p:nvPr/>
          </p:nvSpPr>
          <p:spPr>
            <a:xfrm>
              <a:off x="2" y="745596"/>
              <a:ext cx="9550500" cy="21177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 sz="2400" u="none" cap="none" strike="noStrike">
                  <a:solidFill>
                    <a:schemeClr val="dk1"/>
                  </a:solidFill>
                  <a:latin typeface="Gill Sans"/>
                  <a:ea typeface="Gill Sans"/>
                  <a:cs typeface="Gill Sans"/>
                  <a:sym typeface="Gill Sans"/>
                </a:rPr>
                <a:t>Dr. Jannatun Noor Mukta</a:t>
              </a:r>
              <a:endParaRPr/>
            </a:p>
            <a:p>
              <a:pPr indent="0" lvl="0" marL="0" marR="0" rtl="0" algn="ctr">
                <a:lnSpc>
                  <a:spcPct val="139958"/>
                </a:lnSpc>
                <a:spcBef>
                  <a:spcPts val="0"/>
                </a:spcBef>
                <a:spcAft>
                  <a:spcPts val="0"/>
                </a:spcAft>
                <a:buNone/>
              </a:pPr>
              <a:r>
                <a:rPr b="0" i="0" lang="en" sz="1800" u="none" cap="none" strike="noStrike">
                  <a:solidFill>
                    <a:schemeClr val="dk1"/>
                  </a:solidFill>
                  <a:latin typeface="Gill Sans"/>
                  <a:ea typeface="Gill Sans"/>
                  <a:cs typeface="Gill Sans"/>
                  <a:sym typeface="Gill Sans"/>
                </a:rPr>
                <a:t>Associate Professor</a:t>
              </a:r>
              <a:r>
                <a:rPr b="0" i="0" lang="en" sz="1800" u="none" cap="none" strike="noStrike">
                  <a:solidFill>
                    <a:srgbClr val="231F20"/>
                  </a:solidFill>
                  <a:latin typeface="Gill Sans"/>
                  <a:ea typeface="Gill Sans"/>
                  <a:cs typeface="Gill Sans"/>
                  <a:sym typeface="Gill Sans"/>
                </a:rPr>
                <a:t>, Dept. Of CSE </a:t>
              </a:r>
              <a:endParaRPr/>
            </a:p>
          </p:txBody>
        </p:sp>
      </p:grpSp>
      <p:grpSp>
        <p:nvGrpSpPr>
          <p:cNvPr id="153" name="Google Shape;153;p28"/>
          <p:cNvGrpSpPr/>
          <p:nvPr/>
        </p:nvGrpSpPr>
        <p:grpSpPr>
          <a:xfrm>
            <a:off x="1783333" y="2630420"/>
            <a:ext cx="5105665" cy="774879"/>
            <a:chOff x="193129" y="241509"/>
            <a:chExt cx="6197700" cy="2066344"/>
          </a:xfrm>
        </p:grpSpPr>
        <p:sp>
          <p:nvSpPr>
            <p:cNvPr id="154" name="Google Shape;154;p28"/>
            <p:cNvSpPr txBox="1"/>
            <p:nvPr/>
          </p:nvSpPr>
          <p:spPr>
            <a:xfrm>
              <a:off x="917026" y="241509"/>
              <a:ext cx="4749900" cy="131340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None/>
              </a:pPr>
              <a:r>
                <a:rPr b="1" i="0" lang="en" sz="3200" u="none" cap="none" strike="noStrike">
                  <a:solidFill>
                    <a:srgbClr val="231F20"/>
                  </a:solidFill>
                  <a:latin typeface="Gill Sans"/>
                  <a:ea typeface="Gill Sans"/>
                  <a:cs typeface="Gill Sans"/>
                  <a:sym typeface="Gill Sans"/>
                </a:rPr>
                <a:t>Presented By</a:t>
              </a:r>
              <a:endParaRPr b="1" i="0" sz="3200" u="none" cap="none" strike="noStrike">
                <a:solidFill>
                  <a:srgbClr val="231F20"/>
                </a:solidFill>
                <a:latin typeface="Gill Sans"/>
                <a:ea typeface="Gill Sans"/>
                <a:cs typeface="Gill Sans"/>
                <a:sym typeface="Gill Sans"/>
              </a:endParaRPr>
            </a:p>
          </p:txBody>
        </p:sp>
        <p:sp>
          <p:nvSpPr>
            <p:cNvPr id="155" name="Google Shape;155;p28"/>
            <p:cNvSpPr txBox="1"/>
            <p:nvPr/>
          </p:nvSpPr>
          <p:spPr>
            <a:xfrm>
              <a:off x="193129" y="1322653"/>
              <a:ext cx="6197700" cy="9852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 sz="2400" u="none" cap="none" strike="noStrike">
                  <a:solidFill>
                    <a:srgbClr val="231F20"/>
                  </a:solidFill>
                  <a:latin typeface="Gill Sans"/>
                  <a:ea typeface="Gill Sans"/>
                  <a:cs typeface="Gill Sans"/>
                  <a:sym typeface="Gill Sans"/>
                </a:rPr>
                <a:t>Md. Ahsan Kabir (0122520016)</a:t>
              </a:r>
              <a:endParaRPr/>
            </a:p>
          </p:txBody>
        </p:sp>
      </p:grpSp>
      <p:sp>
        <p:nvSpPr>
          <p:cNvPr id="156" name="Google Shape;156;p28"/>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pic>
        <p:nvPicPr>
          <p:cNvPr id="157" name="Google Shape;157;p28"/>
          <p:cNvPicPr preferRelativeResize="0"/>
          <p:nvPr/>
        </p:nvPicPr>
        <p:blipFill rotWithShape="1">
          <a:blip r:embed="rId3">
            <a:alphaModFix/>
          </a:blip>
          <a:srcRect b="15203" l="0" r="0" t="0"/>
          <a:stretch/>
        </p:blipFill>
        <p:spPr>
          <a:xfrm>
            <a:off x="1143000" y="0"/>
            <a:ext cx="6858000" cy="4361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grpSp>
        <p:nvGrpSpPr>
          <p:cNvPr id="162" name="Google Shape;162;p29"/>
          <p:cNvGrpSpPr/>
          <p:nvPr/>
        </p:nvGrpSpPr>
        <p:grpSpPr>
          <a:xfrm>
            <a:off x="1948429" y="979040"/>
            <a:ext cx="4775250" cy="1236917"/>
            <a:chOff x="2" y="-435150"/>
            <a:chExt cx="9550500" cy="3298446"/>
          </a:xfrm>
        </p:grpSpPr>
        <p:sp>
          <p:nvSpPr>
            <p:cNvPr id="163" name="Google Shape;163;p29"/>
            <p:cNvSpPr txBox="1"/>
            <p:nvPr/>
          </p:nvSpPr>
          <p:spPr>
            <a:xfrm>
              <a:off x="2032696" y="-435150"/>
              <a:ext cx="5770800" cy="13134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None/>
              </a:pPr>
              <a:r>
                <a:rPr b="1" i="0" lang="en" sz="3200" u="none" cap="none" strike="noStrike">
                  <a:solidFill>
                    <a:srgbClr val="231F20"/>
                  </a:solidFill>
                  <a:latin typeface="Gill Sans"/>
                  <a:ea typeface="Gill Sans"/>
                  <a:cs typeface="Gill Sans"/>
                  <a:sym typeface="Gill Sans"/>
                </a:rPr>
                <a:t>Presented To</a:t>
              </a:r>
              <a:endParaRPr b="1" i="0" sz="3200" u="none" cap="none" strike="noStrike">
                <a:solidFill>
                  <a:srgbClr val="231F20"/>
                </a:solidFill>
                <a:latin typeface="Gill Sans"/>
                <a:ea typeface="Gill Sans"/>
                <a:cs typeface="Gill Sans"/>
                <a:sym typeface="Gill Sans"/>
              </a:endParaRPr>
            </a:p>
          </p:txBody>
        </p:sp>
        <p:sp>
          <p:nvSpPr>
            <p:cNvPr id="164" name="Google Shape;164;p29"/>
            <p:cNvSpPr txBox="1"/>
            <p:nvPr/>
          </p:nvSpPr>
          <p:spPr>
            <a:xfrm>
              <a:off x="2" y="745596"/>
              <a:ext cx="9550500" cy="21177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 sz="2400" u="none" cap="none" strike="noStrike">
                  <a:solidFill>
                    <a:schemeClr val="dk1"/>
                  </a:solidFill>
                  <a:latin typeface="Gill Sans"/>
                  <a:ea typeface="Gill Sans"/>
                  <a:cs typeface="Gill Sans"/>
                  <a:sym typeface="Gill Sans"/>
                </a:rPr>
                <a:t>Dr. Jannatun Noor Mukta</a:t>
              </a:r>
              <a:endParaRPr/>
            </a:p>
            <a:p>
              <a:pPr indent="0" lvl="0" marL="0" marR="0" rtl="0" algn="ctr">
                <a:lnSpc>
                  <a:spcPct val="139958"/>
                </a:lnSpc>
                <a:spcBef>
                  <a:spcPts val="0"/>
                </a:spcBef>
                <a:spcAft>
                  <a:spcPts val="0"/>
                </a:spcAft>
                <a:buNone/>
              </a:pPr>
              <a:r>
                <a:rPr b="0" i="0" lang="en" sz="1800" u="none" cap="none" strike="noStrike">
                  <a:solidFill>
                    <a:schemeClr val="dk1"/>
                  </a:solidFill>
                  <a:latin typeface="Gill Sans"/>
                  <a:ea typeface="Gill Sans"/>
                  <a:cs typeface="Gill Sans"/>
                  <a:sym typeface="Gill Sans"/>
                </a:rPr>
                <a:t>Associate Professor</a:t>
              </a:r>
              <a:r>
                <a:rPr b="0" i="0" lang="en" sz="1800" u="none" cap="none" strike="noStrike">
                  <a:solidFill>
                    <a:srgbClr val="231F20"/>
                  </a:solidFill>
                  <a:latin typeface="Gill Sans"/>
                  <a:ea typeface="Gill Sans"/>
                  <a:cs typeface="Gill Sans"/>
                  <a:sym typeface="Gill Sans"/>
                </a:rPr>
                <a:t>, Dept. Of CSE </a:t>
              </a:r>
              <a:endParaRPr/>
            </a:p>
          </p:txBody>
        </p:sp>
      </p:grpSp>
      <p:grpSp>
        <p:nvGrpSpPr>
          <p:cNvPr id="165" name="Google Shape;165;p29"/>
          <p:cNvGrpSpPr/>
          <p:nvPr/>
        </p:nvGrpSpPr>
        <p:grpSpPr>
          <a:xfrm>
            <a:off x="1783333" y="2630420"/>
            <a:ext cx="5105665" cy="774879"/>
            <a:chOff x="193129" y="241509"/>
            <a:chExt cx="6197700" cy="2066344"/>
          </a:xfrm>
        </p:grpSpPr>
        <p:sp>
          <p:nvSpPr>
            <p:cNvPr id="166" name="Google Shape;166;p29"/>
            <p:cNvSpPr txBox="1"/>
            <p:nvPr/>
          </p:nvSpPr>
          <p:spPr>
            <a:xfrm>
              <a:off x="917026" y="241509"/>
              <a:ext cx="4749900" cy="131340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None/>
              </a:pPr>
              <a:r>
                <a:rPr b="1" i="0" lang="en" sz="3200" u="none" cap="none" strike="noStrike">
                  <a:solidFill>
                    <a:srgbClr val="231F20"/>
                  </a:solidFill>
                  <a:latin typeface="Gill Sans"/>
                  <a:ea typeface="Gill Sans"/>
                  <a:cs typeface="Gill Sans"/>
                  <a:sym typeface="Gill Sans"/>
                </a:rPr>
                <a:t>Presented By</a:t>
              </a:r>
              <a:endParaRPr b="1" i="0" sz="3200" u="none" cap="none" strike="noStrike">
                <a:solidFill>
                  <a:srgbClr val="231F20"/>
                </a:solidFill>
                <a:latin typeface="Gill Sans"/>
                <a:ea typeface="Gill Sans"/>
                <a:cs typeface="Gill Sans"/>
                <a:sym typeface="Gill Sans"/>
              </a:endParaRPr>
            </a:p>
          </p:txBody>
        </p:sp>
        <p:sp>
          <p:nvSpPr>
            <p:cNvPr id="167" name="Google Shape;167;p29"/>
            <p:cNvSpPr txBox="1"/>
            <p:nvPr/>
          </p:nvSpPr>
          <p:spPr>
            <a:xfrm>
              <a:off x="193129" y="1322653"/>
              <a:ext cx="6197700" cy="9852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 sz="2400" u="none" cap="none" strike="noStrike">
                  <a:solidFill>
                    <a:srgbClr val="231F20"/>
                  </a:solidFill>
                  <a:latin typeface="Gill Sans"/>
                  <a:ea typeface="Gill Sans"/>
                  <a:cs typeface="Gill Sans"/>
                  <a:sym typeface="Gill Sans"/>
                </a:rPr>
                <a:t>Md. Ahsan Kabir (0122520016)</a:t>
              </a:r>
              <a:endParaRPr/>
            </a:p>
          </p:txBody>
        </p:sp>
      </p:grpSp>
      <p:sp>
        <p:nvSpPr>
          <p:cNvPr id="168" name="Google Shape;168;p29"/>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a:t>PROBLEM DEFINITION (1/2)</a:t>
            </a:r>
            <a:endParaRPr/>
          </a:p>
        </p:txBody>
      </p:sp>
      <p:sp>
        <p:nvSpPr>
          <p:cNvPr id="174" name="Google Shape;174;p30"/>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fontScale="85000" lnSpcReduction="10000"/>
          </a:bodyPr>
          <a:lstStyle/>
          <a:p>
            <a:pPr indent="-122872" lvl="0" marL="228600" rtl="0" algn="l">
              <a:lnSpc>
                <a:spcPct val="100000"/>
              </a:lnSpc>
              <a:spcBef>
                <a:spcPts val="0"/>
              </a:spcBef>
              <a:spcAft>
                <a:spcPts val="0"/>
              </a:spcAft>
              <a:buSzPct val="100000"/>
              <a:buNone/>
            </a:pPr>
            <a:r>
              <a:t/>
            </a:r>
            <a:endParaRPr/>
          </a:p>
          <a:p>
            <a:pPr indent="-219075" lvl="0" marL="228600" rtl="0" algn="l">
              <a:lnSpc>
                <a:spcPct val="100000"/>
              </a:lnSpc>
              <a:spcBef>
                <a:spcPts val="1000"/>
              </a:spcBef>
              <a:spcAft>
                <a:spcPts val="0"/>
              </a:spcAft>
              <a:buSzPct val="111111"/>
              <a:buChar char="•"/>
            </a:pPr>
            <a:r>
              <a:rPr lang="en"/>
              <a:t>Reminiscence is critical for older adults’ well-being and memory recall.</a:t>
            </a:r>
            <a:endParaRPr/>
          </a:p>
          <a:p>
            <a:pPr indent="-219075" lvl="0" marL="228600" rtl="0" algn="l">
              <a:lnSpc>
                <a:spcPct val="100000"/>
              </a:lnSpc>
              <a:spcBef>
                <a:spcPts val="1000"/>
              </a:spcBef>
              <a:spcAft>
                <a:spcPts val="0"/>
              </a:spcAft>
              <a:buSzPct val="111111"/>
              <a:buChar char="•"/>
            </a:pPr>
            <a:r>
              <a:rPr lang="en"/>
              <a:t>Traditional photo-based reminiscence tools exist.</a:t>
            </a:r>
            <a:endParaRPr/>
          </a:p>
          <a:p>
            <a:pPr indent="-219075" lvl="0" marL="228600" rtl="0" algn="l">
              <a:lnSpc>
                <a:spcPct val="100000"/>
              </a:lnSpc>
              <a:spcBef>
                <a:spcPts val="1000"/>
              </a:spcBef>
              <a:spcAft>
                <a:spcPts val="0"/>
              </a:spcAft>
              <a:buSzPct val="111111"/>
              <a:buChar char="•"/>
            </a:pPr>
            <a:r>
              <a:rPr lang="en"/>
              <a:t>BUT: Most rely on text-based interaction (not natural for seniors).</a:t>
            </a:r>
            <a:endParaRPr/>
          </a:p>
          <a:p>
            <a:pPr indent="-219075" lvl="0" marL="228600" rtl="0" algn="l">
              <a:lnSpc>
                <a:spcPct val="100000"/>
              </a:lnSpc>
              <a:spcBef>
                <a:spcPts val="1000"/>
              </a:spcBef>
              <a:spcAft>
                <a:spcPts val="0"/>
              </a:spcAft>
              <a:buSzPct val="111111"/>
              <a:buChar char="•"/>
            </a:pPr>
            <a:r>
              <a:rPr lang="en"/>
              <a:t>Lack personalization and sensitivity to users’ needs.</a:t>
            </a:r>
            <a:endParaRPr/>
          </a:p>
          <a:p>
            <a:pPr indent="-219075" lvl="0" marL="228600" rtl="0" algn="l">
              <a:lnSpc>
                <a:spcPct val="100000"/>
              </a:lnSpc>
              <a:spcBef>
                <a:spcPts val="1000"/>
              </a:spcBef>
              <a:spcAft>
                <a:spcPts val="0"/>
              </a:spcAft>
              <a:buSzPct val="111111"/>
              <a:buChar char="•"/>
            </a:pPr>
            <a:r>
              <a:rPr lang="en"/>
              <a:t>Limited research on gaze + speech + LLM integration.</a:t>
            </a:r>
            <a:endParaRPr/>
          </a:p>
        </p:txBody>
      </p:sp>
      <p:sp>
        <p:nvSpPr>
          <p:cNvPr id="175" name="Google Shape;175;p30"/>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PROBLEM DEFINITION (2/2)</a:t>
            </a:r>
            <a:endParaRPr/>
          </a:p>
        </p:txBody>
      </p:sp>
      <p:sp>
        <p:nvSpPr>
          <p:cNvPr id="181" name="Google Shape;181;p31"/>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lnSpcReduction="20000"/>
          </a:bodyPr>
          <a:lstStyle/>
          <a:p>
            <a:pPr indent="-114300" lvl="0" marL="228600" rtl="0" algn="l">
              <a:lnSpc>
                <a:spcPct val="100000"/>
              </a:lnSpc>
              <a:spcBef>
                <a:spcPts val="0"/>
              </a:spcBef>
              <a:spcAft>
                <a:spcPts val="0"/>
              </a:spcAft>
              <a:buSzPts val="1800"/>
              <a:buNone/>
            </a:pPr>
            <a:r>
              <a:t/>
            </a:r>
            <a:endParaRPr/>
          </a:p>
          <a:p>
            <a:pPr indent="0" lvl="0" marL="0" rtl="0" algn="l">
              <a:lnSpc>
                <a:spcPct val="100000"/>
              </a:lnSpc>
              <a:spcBef>
                <a:spcPts val="1000"/>
              </a:spcBef>
              <a:spcAft>
                <a:spcPts val="0"/>
              </a:spcAft>
              <a:buSzPts val="2000"/>
              <a:buNone/>
            </a:pPr>
            <a:r>
              <a:rPr lang="en"/>
              <a:t>Research Questions (RQ):</a:t>
            </a:r>
            <a:endParaRPr/>
          </a:p>
          <a:p>
            <a:pPr indent="-444500" lvl="0" marL="457200" rtl="0" algn="l">
              <a:lnSpc>
                <a:spcPct val="100000"/>
              </a:lnSpc>
              <a:spcBef>
                <a:spcPts val="1000"/>
              </a:spcBef>
              <a:spcAft>
                <a:spcPts val="0"/>
              </a:spcAft>
              <a:buSzPts val="1800"/>
              <a:buAutoNum type="arabicPeriod"/>
            </a:pPr>
            <a:r>
              <a:rPr lang="en"/>
              <a:t>How can the integration of LLM with eye-tracking technology enhance the conversational experience among older adults during reminiscence activities?</a:t>
            </a:r>
            <a:endParaRPr/>
          </a:p>
          <a:p>
            <a:pPr indent="-457200" lvl="0" marL="457200" rtl="0" algn="l">
              <a:lnSpc>
                <a:spcPct val="100000"/>
              </a:lnSpc>
              <a:spcBef>
                <a:spcPts val="1000"/>
              </a:spcBef>
              <a:spcAft>
                <a:spcPts val="0"/>
              </a:spcAft>
              <a:buSzPts val="2000"/>
              <a:buFont typeface="Gill Sans"/>
              <a:buAutoNum type="arabicPeriod"/>
            </a:pPr>
            <a:r>
              <a:rPr lang="en"/>
              <a:t>How can LLM-powered conversation with eyetracking augmentation benefit older adults through reminiscence activities experience?</a:t>
            </a:r>
            <a:endParaRPr/>
          </a:p>
        </p:txBody>
      </p:sp>
      <p:sp>
        <p:nvSpPr>
          <p:cNvPr id="182" name="Google Shape;182;p31"/>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2"/>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MOTIVATION (1/2)</a:t>
            </a:r>
            <a:endParaRPr/>
          </a:p>
        </p:txBody>
      </p:sp>
      <p:sp>
        <p:nvSpPr>
          <p:cNvPr id="188" name="Google Shape;188;p32"/>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fontScale="92500" lnSpcReduction="20000"/>
          </a:bodyPr>
          <a:lstStyle/>
          <a:p>
            <a:pPr indent="-114300" lvl="0" marL="228600" rtl="0" algn="l">
              <a:lnSpc>
                <a:spcPct val="100000"/>
              </a:lnSpc>
              <a:spcBef>
                <a:spcPts val="0"/>
              </a:spcBef>
              <a:spcAft>
                <a:spcPts val="0"/>
              </a:spcAft>
              <a:buSzPct val="100000"/>
              <a:buNone/>
            </a:pPr>
            <a:r>
              <a:t/>
            </a:r>
            <a:endParaRPr/>
          </a:p>
          <a:p>
            <a:pPr indent="-219075" lvl="0" marL="228600" rtl="0" algn="l">
              <a:lnSpc>
                <a:spcPct val="100000"/>
              </a:lnSpc>
              <a:spcBef>
                <a:spcPts val="1000"/>
              </a:spcBef>
              <a:spcAft>
                <a:spcPts val="0"/>
              </a:spcAft>
              <a:buSzPct val="100000"/>
              <a:buChar char="•"/>
            </a:pPr>
            <a:r>
              <a:rPr lang="en" sz="2000"/>
              <a:t>Aging population faces memory decline &amp; social isolation.</a:t>
            </a:r>
            <a:endParaRPr/>
          </a:p>
          <a:p>
            <a:pPr indent="-219075" lvl="0" marL="228600" rtl="0" algn="l">
              <a:lnSpc>
                <a:spcPct val="100000"/>
              </a:lnSpc>
              <a:spcBef>
                <a:spcPts val="1000"/>
              </a:spcBef>
              <a:spcAft>
                <a:spcPts val="0"/>
              </a:spcAft>
              <a:buSzPct val="100000"/>
              <a:buChar char="•"/>
            </a:pPr>
            <a:r>
              <a:rPr lang="en" sz="2000"/>
              <a:t>Reminiscence therapy proven to boost self-expression, mood, and identity.</a:t>
            </a:r>
            <a:endParaRPr/>
          </a:p>
          <a:p>
            <a:pPr indent="-219075" lvl="0" marL="228600" rtl="0" algn="l">
              <a:lnSpc>
                <a:spcPct val="100000"/>
              </a:lnSpc>
              <a:spcBef>
                <a:spcPts val="1000"/>
              </a:spcBef>
              <a:spcAft>
                <a:spcPts val="0"/>
              </a:spcAft>
              <a:buSzPct val="100000"/>
              <a:buChar char="•"/>
            </a:pPr>
            <a:r>
              <a:rPr lang="en" sz="2000"/>
              <a:t>Aids dementia care and mental health.</a:t>
            </a:r>
            <a:endParaRPr/>
          </a:p>
          <a:p>
            <a:pPr indent="-219075" lvl="0" marL="228600" rtl="0" algn="l">
              <a:lnSpc>
                <a:spcPct val="100000"/>
              </a:lnSpc>
              <a:spcBef>
                <a:spcPts val="1000"/>
              </a:spcBef>
              <a:spcAft>
                <a:spcPts val="0"/>
              </a:spcAft>
              <a:buSzPct val="100000"/>
              <a:buChar char="•"/>
            </a:pPr>
            <a:r>
              <a:rPr lang="en" sz="2000"/>
              <a:t>Challenge: Older adults often struggle with complex UIs and voice/text-only systems.</a:t>
            </a:r>
            <a:endParaRPr/>
          </a:p>
        </p:txBody>
      </p:sp>
      <p:sp>
        <p:nvSpPr>
          <p:cNvPr id="189" name="Google Shape;189;p32"/>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MOTIVATION (2/2)</a:t>
            </a:r>
            <a:endParaRPr/>
          </a:p>
        </p:txBody>
      </p:sp>
      <p:sp>
        <p:nvSpPr>
          <p:cNvPr id="195" name="Google Shape;195;p33"/>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lnSpcReduction="20000"/>
          </a:bodyPr>
          <a:lstStyle/>
          <a:p>
            <a:pPr indent="-114300" lvl="0" marL="228600" rtl="0" algn="l">
              <a:lnSpc>
                <a:spcPct val="100000"/>
              </a:lnSpc>
              <a:spcBef>
                <a:spcPts val="0"/>
              </a:spcBef>
              <a:spcAft>
                <a:spcPts val="0"/>
              </a:spcAft>
              <a:buSzPts val="1800"/>
              <a:buNone/>
            </a:pPr>
            <a:r>
              <a:t/>
            </a:r>
            <a:endParaRPr/>
          </a:p>
          <a:p>
            <a:pPr indent="-228600" lvl="0" marL="228600" rtl="0" algn="l">
              <a:lnSpc>
                <a:spcPct val="100000"/>
              </a:lnSpc>
              <a:spcBef>
                <a:spcPts val="1000"/>
              </a:spcBef>
              <a:spcAft>
                <a:spcPts val="0"/>
              </a:spcAft>
              <a:buSzPts val="2000"/>
              <a:buChar char="•"/>
            </a:pPr>
            <a:r>
              <a:rPr lang="en"/>
              <a:t>Eye-tracking provides natural, low-effort interaction.</a:t>
            </a:r>
            <a:endParaRPr/>
          </a:p>
          <a:p>
            <a:pPr indent="-228600" lvl="0" marL="228600" rtl="0" algn="l">
              <a:lnSpc>
                <a:spcPct val="100000"/>
              </a:lnSpc>
              <a:spcBef>
                <a:spcPts val="1000"/>
              </a:spcBef>
              <a:spcAft>
                <a:spcPts val="0"/>
              </a:spcAft>
              <a:buSzPts val="2000"/>
              <a:buChar char="•"/>
            </a:pPr>
            <a:r>
              <a:rPr lang="en"/>
              <a:t>Potential to:</a:t>
            </a:r>
            <a:endParaRPr/>
          </a:p>
          <a:p>
            <a:pPr indent="-228600" lvl="1" marL="457200" rtl="0" algn="l">
              <a:lnSpc>
                <a:spcPct val="100000"/>
              </a:lnSpc>
              <a:spcBef>
                <a:spcPts val="1000"/>
              </a:spcBef>
              <a:spcAft>
                <a:spcPts val="0"/>
              </a:spcAft>
              <a:buSzPts val="2000"/>
              <a:buChar char="•"/>
            </a:pPr>
            <a:r>
              <a:rPr lang="en"/>
              <a:t>Capture visual interest automatically.</a:t>
            </a:r>
            <a:endParaRPr/>
          </a:p>
          <a:p>
            <a:pPr indent="-228600" lvl="1" marL="457200" rtl="0" algn="l">
              <a:lnSpc>
                <a:spcPct val="100000"/>
              </a:lnSpc>
              <a:spcBef>
                <a:spcPts val="1000"/>
              </a:spcBef>
              <a:spcAft>
                <a:spcPts val="0"/>
              </a:spcAft>
              <a:buSzPts val="2000"/>
              <a:buChar char="•"/>
            </a:pPr>
            <a:r>
              <a:rPr lang="en"/>
              <a:t>Reduce cognitive load.</a:t>
            </a:r>
            <a:endParaRPr/>
          </a:p>
          <a:p>
            <a:pPr indent="-228600" lvl="1" marL="457200" rtl="0" algn="l">
              <a:lnSpc>
                <a:spcPct val="100000"/>
              </a:lnSpc>
              <a:spcBef>
                <a:spcPts val="1000"/>
              </a:spcBef>
              <a:spcAft>
                <a:spcPts val="0"/>
              </a:spcAft>
              <a:buSzPts val="2000"/>
              <a:buChar char="•"/>
            </a:pPr>
            <a:r>
              <a:rPr lang="en"/>
              <a:t>Encourage richer, more personalized conversations.</a:t>
            </a:r>
            <a:endParaRPr/>
          </a:p>
        </p:txBody>
      </p:sp>
      <p:sp>
        <p:nvSpPr>
          <p:cNvPr id="196" name="Google Shape;196;p33"/>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1606045" y="723519"/>
            <a:ext cx="5937900" cy="891600"/>
          </a:xfrm>
          <a:prstGeom prst="rect">
            <a:avLst/>
          </a:prstGeom>
        </p:spPr>
        <p:txBody>
          <a:bodyPr anchorCtr="0" anchor="ctr" bIns="182875" lIns="182875" spcFirstLastPara="1" rIns="182875" wrap="square" tIns="182875">
            <a:normAutofit/>
          </a:bodyPr>
          <a:lstStyle/>
          <a:p>
            <a:pPr indent="0" lvl="0" marL="0" rtl="0" algn="ctr">
              <a:spcBef>
                <a:spcPts val="0"/>
              </a:spcBef>
              <a:spcAft>
                <a:spcPts val="0"/>
              </a:spcAft>
              <a:buNone/>
            </a:pPr>
            <a:r>
              <a:rPr lang="en"/>
              <a:t>MAIN CONTRIBUTION (1/3)</a:t>
            </a:r>
            <a:endParaRPr/>
          </a:p>
        </p:txBody>
      </p:sp>
      <p:sp>
        <p:nvSpPr>
          <p:cNvPr id="202" name="Google Shape;202;p34"/>
          <p:cNvSpPr txBox="1"/>
          <p:nvPr>
            <p:ph idx="1" type="body"/>
          </p:nvPr>
        </p:nvSpPr>
        <p:spPr>
          <a:xfrm>
            <a:off x="1606045" y="1978534"/>
            <a:ext cx="5937900" cy="2326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
              <a:t>We conducted expert interview studies to understand the design considerations in older adults’ reminiscence activities, potential challenges, and opportunities for LLMs to improve the design of photo-based reminiscence tools.</a:t>
            </a:r>
            <a:endParaRPr/>
          </a:p>
        </p:txBody>
      </p:sp>
      <p:sp>
        <p:nvSpPr>
          <p:cNvPr id="203" name="Google Shape;203;p34"/>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1606045" y="723519"/>
            <a:ext cx="5937900" cy="891600"/>
          </a:xfrm>
          <a:prstGeom prst="rect">
            <a:avLst/>
          </a:prstGeom>
        </p:spPr>
        <p:txBody>
          <a:bodyPr anchorCtr="0" anchor="ctr" bIns="182875" lIns="182875" spcFirstLastPara="1" rIns="182875" wrap="square" tIns="182875">
            <a:normAutofit/>
          </a:bodyPr>
          <a:lstStyle/>
          <a:p>
            <a:pPr indent="0" lvl="0" marL="0" rtl="0" algn="ctr">
              <a:spcBef>
                <a:spcPts val="0"/>
              </a:spcBef>
              <a:spcAft>
                <a:spcPts val="0"/>
              </a:spcAft>
              <a:buNone/>
            </a:pPr>
            <a:r>
              <a:rPr lang="en"/>
              <a:t>MAIN CONTRIBUTION (2/3)</a:t>
            </a:r>
            <a:endParaRPr/>
          </a:p>
        </p:txBody>
      </p:sp>
      <p:sp>
        <p:nvSpPr>
          <p:cNvPr id="209" name="Google Shape;209;p35"/>
          <p:cNvSpPr txBox="1"/>
          <p:nvPr>
            <p:ph idx="1" type="body"/>
          </p:nvPr>
        </p:nvSpPr>
        <p:spPr>
          <a:xfrm>
            <a:off x="1606045" y="1978534"/>
            <a:ext cx="5937900" cy="2326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
              <a:t>We have developed a prototype system Eye2Recall to help older adults interact with an LLM-powered agent while looking at old photos. The system provides personalised reminiscence conversations by asking specific questions based on visual cues captured from the older adult.</a:t>
            </a:r>
            <a:endParaRPr/>
          </a:p>
        </p:txBody>
      </p:sp>
      <p:sp>
        <p:nvSpPr>
          <p:cNvPr id="210" name="Google Shape;210;p35"/>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1606045" y="723519"/>
            <a:ext cx="5937900" cy="891600"/>
          </a:xfrm>
          <a:prstGeom prst="rect">
            <a:avLst/>
          </a:prstGeom>
        </p:spPr>
        <p:txBody>
          <a:bodyPr anchorCtr="0" anchor="ctr" bIns="182875" lIns="182875" spcFirstLastPara="1" rIns="182875" wrap="square" tIns="182875">
            <a:normAutofit/>
          </a:bodyPr>
          <a:lstStyle/>
          <a:p>
            <a:pPr indent="0" lvl="0" marL="0" rtl="0" algn="ctr">
              <a:spcBef>
                <a:spcPts val="0"/>
              </a:spcBef>
              <a:spcAft>
                <a:spcPts val="0"/>
              </a:spcAft>
              <a:buNone/>
            </a:pPr>
            <a:r>
              <a:rPr lang="en"/>
              <a:t>MAIN CONTRIBUTION (3/3)</a:t>
            </a:r>
            <a:endParaRPr/>
          </a:p>
        </p:txBody>
      </p:sp>
      <p:sp>
        <p:nvSpPr>
          <p:cNvPr id="216" name="Google Shape;216;p36"/>
          <p:cNvSpPr txBox="1"/>
          <p:nvPr>
            <p:ph idx="1" type="body"/>
          </p:nvPr>
        </p:nvSpPr>
        <p:spPr>
          <a:xfrm>
            <a:off x="1606045" y="1978534"/>
            <a:ext cx="5937900" cy="2326500"/>
          </a:xfrm>
          <a:prstGeom prst="rect">
            <a:avLst/>
          </a:prstGeom>
        </p:spPr>
        <p:txBody>
          <a:bodyPr anchorCtr="0" anchor="t" bIns="45700" lIns="91425" spcFirstLastPara="1" rIns="91425" wrap="square" tIns="45700">
            <a:noAutofit/>
          </a:bodyPr>
          <a:lstStyle/>
          <a:p>
            <a:pPr indent="-342900" lvl="0" marL="457200" rtl="0" algn="l">
              <a:spcBef>
                <a:spcPts val="1000"/>
              </a:spcBef>
              <a:spcAft>
                <a:spcPts val="0"/>
              </a:spcAft>
              <a:buSzPts val="1800"/>
              <a:buChar char="•"/>
            </a:pPr>
            <a:r>
              <a:rPr lang="en"/>
              <a:t>We conducted a user study with 10 older adults to evaluate the usability and effectiveness of Eye2Recall, and we also provide insights based on our findings to inform the design and development of future related work.</a:t>
            </a:r>
            <a:endParaRPr/>
          </a:p>
        </p:txBody>
      </p:sp>
      <p:sp>
        <p:nvSpPr>
          <p:cNvPr id="217" name="Google Shape;217;p36"/>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SOLUTION APPROACH (1/</a:t>
            </a:r>
            <a:r>
              <a:rPr lang="en"/>
              <a:t>5</a:t>
            </a:r>
            <a:r>
              <a:rPr lang="en" sz="2600" cap="none">
                <a:solidFill>
                  <a:srgbClr val="262626"/>
                </a:solidFill>
                <a:latin typeface="Gill Sans"/>
                <a:ea typeface="Gill Sans"/>
                <a:cs typeface="Gill Sans"/>
                <a:sym typeface="Gill Sans"/>
              </a:rPr>
              <a:t>)</a:t>
            </a:r>
            <a:endParaRPr/>
          </a:p>
        </p:txBody>
      </p:sp>
      <p:sp>
        <p:nvSpPr>
          <p:cNvPr id="223" name="Google Shape;223;p37"/>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fontScale="92500" lnSpcReduction="20000"/>
          </a:bodyPr>
          <a:lstStyle/>
          <a:p>
            <a:pPr indent="-114300" lvl="0" marL="228600" rtl="0" algn="l">
              <a:lnSpc>
                <a:spcPct val="100000"/>
              </a:lnSpc>
              <a:spcBef>
                <a:spcPts val="0"/>
              </a:spcBef>
              <a:spcAft>
                <a:spcPts val="0"/>
              </a:spcAft>
              <a:buSzPct val="100000"/>
              <a:buNone/>
            </a:pPr>
            <a:r>
              <a:t/>
            </a:r>
            <a:endParaRPr/>
          </a:p>
          <a:p>
            <a:pPr indent="-219075" lvl="0" marL="228600" rtl="0" algn="l">
              <a:lnSpc>
                <a:spcPct val="100000"/>
              </a:lnSpc>
              <a:spcBef>
                <a:spcPts val="1000"/>
              </a:spcBef>
              <a:spcAft>
                <a:spcPts val="0"/>
              </a:spcAft>
              <a:buSzPct val="111111"/>
              <a:buChar char="•"/>
            </a:pPr>
            <a:r>
              <a:rPr lang="en"/>
              <a:t>System: Eye2Recall</a:t>
            </a:r>
            <a:endParaRPr/>
          </a:p>
          <a:p>
            <a:pPr indent="-219075" lvl="0" marL="228600" rtl="0" algn="l">
              <a:lnSpc>
                <a:spcPct val="100000"/>
              </a:lnSpc>
              <a:spcBef>
                <a:spcPts val="1000"/>
              </a:spcBef>
              <a:spcAft>
                <a:spcPts val="0"/>
              </a:spcAft>
              <a:buSzPct val="111111"/>
              <a:buChar char="•"/>
            </a:pPr>
            <a:r>
              <a:rPr lang="en"/>
              <a:t>Combines:</a:t>
            </a:r>
            <a:endParaRPr/>
          </a:p>
          <a:p>
            <a:pPr indent="-219075" lvl="1" marL="457200" rtl="0" algn="l">
              <a:lnSpc>
                <a:spcPct val="100000"/>
              </a:lnSpc>
              <a:spcBef>
                <a:spcPts val="1000"/>
              </a:spcBef>
              <a:spcAft>
                <a:spcPts val="0"/>
              </a:spcAft>
              <a:buSzPct val="125000"/>
              <a:buChar char="•"/>
            </a:pPr>
            <a:r>
              <a:rPr lang="en"/>
              <a:t>Eye-tracking → detects what user looks at in a photo.</a:t>
            </a:r>
            <a:endParaRPr/>
          </a:p>
          <a:p>
            <a:pPr indent="-219075" lvl="1" marL="457200" rtl="0" algn="l">
              <a:lnSpc>
                <a:spcPct val="100000"/>
              </a:lnSpc>
              <a:spcBef>
                <a:spcPts val="1000"/>
              </a:spcBef>
              <a:spcAft>
                <a:spcPts val="0"/>
              </a:spcAft>
              <a:buSzPct val="125000"/>
              <a:buChar char="•"/>
            </a:pPr>
            <a:r>
              <a:rPr lang="en"/>
              <a:t>LLM-powered dialogue → generates personalized conversation prompts.</a:t>
            </a:r>
            <a:endParaRPr/>
          </a:p>
          <a:p>
            <a:pPr indent="-219075" lvl="1" marL="457200" rtl="0" algn="l">
              <a:lnSpc>
                <a:spcPct val="100000"/>
              </a:lnSpc>
              <a:spcBef>
                <a:spcPts val="1000"/>
              </a:spcBef>
              <a:spcAft>
                <a:spcPts val="0"/>
              </a:spcAft>
              <a:buSzPct val="125000"/>
              <a:buChar char="•"/>
            </a:pPr>
            <a:r>
              <a:rPr lang="en"/>
              <a:t>Voice interaction → natural Q&amp;A flow.</a:t>
            </a:r>
            <a:endParaRPr/>
          </a:p>
        </p:txBody>
      </p:sp>
      <p:sp>
        <p:nvSpPr>
          <p:cNvPr id="224" name="Google Shape;224;p37"/>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SOLUTION APPROACH (2/</a:t>
            </a:r>
            <a:r>
              <a:rPr lang="en"/>
              <a:t>5</a:t>
            </a:r>
            <a:r>
              <a:rPr lang="en" sz="2600" cap="none">
                <a:solidFill>
                  <a:srgbClr val="262626"/>
                </a:solidFill>
                <a:latin typeface="Gill Sans"/>
                <a:ea typeface="Gill Sans"/>
                <a:cs typeface="Gill Sans"/>
                <a:sym typeface="Gill Sans"/>
              </a:rPr>
              <a:t>)</a:t>
            </a:r>
            <a:endParaRPr/>
          </a:p>
        </p:txBody>
      </p:sp>
      <p:sp>
        <p:nvSpPr>
          <p:cNvPr id="230" name="Google Shape;230;p38"/>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fontScale="62500" lnSpcReduction="20000"/>
          </a:bodyPr>
          <a:lstStyle/>
          <a:p>
            <a:pPr indent="-131445" lvl="0" marL="228600" rtl="0" algn="l">
              <a:lnSpc>
                <a:spcPct val="100000"/>
              </a:lnSpc>
              <a:spcBef>
                <a:spcPts val="0"/>
              </a:spcBef>
              <a:spcAft>
                <a:spcPts val="0"/>
              </a:spcAft>
              <a:buSzPct val="100000"/>
              <a:buNone/>
            </a:pPr>
            <a:r>
              <a:t/>
            </a:r>
            <a:endParaRPr/>
          </a:p>
          <a:p>
            <a:pPr indent="-200025" lvl="0" marL="228600" rtl="0" algn="l">
              <a:lnSpc>
                <a:spcPct val="100000"/>
              </a:lnSpc>
              <a:spcBef>
                <a:spcPts val="1000"/>
              </a:spcBef>
              <a:spcAft>
                <a:spcPts val="0"/>
              </a:spcAft>
              <a:buSzPct val="111111"/>
              <a:buChar char="•"/>
            </a:pPr>
            <a:r>
              <a:rPr lang="en"/>
              <a:t>Design Process:</a:t>
            </a:r>
            <a:endParaRPr/>
          </a:p>
          <a:p>
            <a:pPr indent="-200025" lvl="1" marL="457200" rtl="0" algn="l">
              <a:lnSpc>
                <a:spcPct val="100000"/>
              </a:lnSpc>
              <a:spcBef>
                <a:spcPts val="1000"/>
              </a:spcBef>
              <a:spcAft>
                <a:spcPts val="0"/>
              </a:spcAft>
              <a:buSzPct val="125000"/>
              <a:buChar char="•"/>
            </a:pPr>
            <a:r>
              <a:rPr lang="en"/>
              <a:t>Expert Interviews (4 experts): Key considerations → simplicity, accessibility, cultural relevance, chronological order.</a:t>
            </a:r>
            <a:endParaRPr/>
          </a:p>
          <a:p>
            <a:pPr indent="-200025" lvl="1" marL="457200" rtl="0" algn="l">
              <a:lnSpc>
                <a:spcPct val="100000"/>
              </a:lnSpc>
              <a:spcBef>
                <a:spcPts val="1000"/>
              </a:spcBef>
              <a:spcAft>
                <a:spcPts val="0"/>
              </a:spcAft>
              <a:buSzPct val="125000"/>
              <a:buChar char="•"/>
            </a:pPr>
            <a:r>
              <a:rPr lang="en"/>
              <a:t>Design Guidelines:</a:t>
            </a:r>
            <a:endParaRPr/>
          </a:p>
          <a:p>
            <a:pPr indent="-200025" lvl="2" marL="685800" rtl="0" algn="l">
              <a:lnSpc>
                <a:spcPct val="100000"/>
              </a:lnSpc>
              <a:spcBef>
                <a:spcPts val="1000"/>
              </a:spcBef>
              <a:spcAft>
                <a:spcPts val="0"/>
              </a:spcAft>
              <a:buSzPct val="125000"/>
              <a:buChar char="•"/>
            </a:pPr>
            <a:r>
              <a:rPr lang="en"/>
              <a:t>Low cognitive load.</a:t>
            </a:r>
            <a:endParaRPr/>
          </a:p>
          <a:p>
            <a:pPr indent="-200025" lvl="2" marL="685800" rtl="0" algn="l">
              <a:lnSpc>
                <a:spcPct val="100000"/>
              </a:lnSpc>
              <a:spcBef>
                <a:spcPts val="1000"/>
              </a:spcBef>
              <a:spcAft>
                <a:spcPts val="0"/>
              </a:spcAft>
              <a:buSzPct val="125000"/>
              <a:buChar char="•"/>
            </a:pPr>
            <a:r>
              <a:rPr lang="en"/>
              <a:t>Supportive dialogue tone.</a:t>
            </a:r>
            <a:endParaRPr/>
          </a:p>
          <a:p>
            <a:pPr indent="-200025" lvl="2" marL="685800" rtl="0" algn="l">
              <a:lnSpc>
                <a:spcPct val="100000"/>
              </a:lnSpc>
              <a:spcBef>
                <a:spcPts val="1000"/>
              </a:spcBef>
              <a:spcAft>
                <a:spcPts val="0"/>
              </a:spcAft>
              <a:buSzPct val="125000"/>
              <a:buChar char="•"/>
            </a:pPr>
            <a:r>
              <a:rPr lang="en"/>
              <a:t>Accessibility (large fonts, loud audio, safe environment).</a:t>
            </a:r>
            <a:endParaRPr/>
          </a:p>
          <a:p>
            <a:pPr indent="-200025" lvl="2" marL="685800" rtl="0" algn="l">
              <a:lnSpc>
                <a:spcPct val="100000"/>
              </a:lnSpc>
              <a:spcBef>
                <a:spcPts val="1000"/>
              </a:spcBef>
              <a:spcAft>
                <a:spcPts val="0"/>
              </a:spcAft>
              <a:buSzPct val="125000"/>
              <a:buChar char="•"/>
            </a:pPr>
            <a:r>
              <a:rPr lang="en"/>
              <a:t>Use generic cultural photos as memory triggers.</a:t>
            </a:r>
            <a:endParaRPr/>
          </a:p>
        </p:txBody>
      </p:sp>
      <p:sp>
        <p:nvSpPr>
          <p:cNvPr id="231" name="Google Shape;231;p38"/>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SOLUTION APPROACH (3/</a:t>
            </a:r>
            <a:r>
              <a:rPr lang="en"/>
              <a:t>5</a:t>
            </a:r>
            <a:r>
              <a:rPr lang="en" sz="2600" cap="none">
                <a:solidFill>
                  <a:srgbClr val="262626"/>
                </a:solidFill>
                <a:latin typeface="Gill Sans"/>
                <a:ea typeface="Gill Sans"/>
                <a:cs typeface="Gill Sans"/>
                <a:sym typeface="Gill Sans"/>
              </a:rPr>
              <a:t>)</a:t>
            </a:r>
            <a:endParaRPr/>
          </a:p>
        </p:txBody>
      </p:sp>
      <p:sp>
        <p:nvSpPr>
          <p:cNvPr id="237" name="Google Shape;237;p39"/>
          <p:cNvSpPr txBox="1"/>
          <p:nvPr>
            <p:ph idx="1" type="body"/>
          </p:nvPr>
        </p:nvSpPr>
        <p:spPr>
          <a:xfrm>
            <a:off x="1606050" y="1978525"/>
            <a:ext cx="6634200" cy="2899500"/>
          </a:xfrm>
          <a:prstGeom prst="rect">
            <a:avLst/>
          </a:prstGeom>
          <a:noFill/>
          <a:ln>
            <a:noFill/>
          </a:ln>
        </p:spPr>
        <p:txBody>
          <a:bodyPr anchorCtr="0" anchor="t" bIns="45700" lIns="91425" spcFirstLastPara="1" rIns="91425" wrap="square" tIns="45700">
            <a:normAutofit fontScale="77500" lnSpcReduction="20000"/>
          </a:bodyPr>
          <a:lstStyle/>
          <a:p>
            <a:pPr indent="-131445" lvl="0" marL="228600" rtl="0" algn="l">
              <a:lnSpc>
                <a:spcPct val="100000"/>
              </a:lnSpc>
              <a:spcBef>
                <a:spcPts val="0"/>
              </a:spcBef>
              <a:spcAft>
                <a:spcPts val="0"/>
              </a:spcAft>
              <a:buSzPct val="100000"/>
              <a:buNone/>
            </a:pPr>
            <a:r>
              <a:t/>
            </a:r>
            <a:endParaRPr/>
          </a:p>
          <a:p>
            <a:pPr indent="-219075" lvl="0" marL="228600" rtl="0" algn="l">
              <a:lnSpc>
                <a:spcPct val="100000"/>
              </a:lnSpc>
              <a:spcBef>
                <a:spcPts val="1000"/>
              </a:spcBef>
              <a:spcAft>
                <a:spcPts val="0"/>
              </a:spcAft>
              <a:buSzPct val="111111"/>
              <a:buChar char="•"/>
            </a:pPr>
            <a:r>
              <a:rPr lang="en"/>
              <a:t>System Architecture:</a:t>
            </a:r>
            <a:endParaRPr/>
          </a:p>
          <a:p>
            <a:pPr indent="-447675" lvl="0" marL="457200" rtl="0" algn="l">
              <a:lnSpc>
                <a:spcPct val="100000"/>
              </a:lnSpc>
              <a:spcBef>
                <a:spcPts val="1000"/>
              </a:spcBef>
              <a:spcAft>
                <a:spcPts val="0"/>
              </a:spcAft>
              <a:buSzPct val="111111"/>
              <a:buFont typeface="Gill Sans"/>
              <a:buAutoNum type="arabicPeriod"/>
            </a:pPr>
            <a:r>
              <a:rPr lang="en"/>
              <a:t>Visual Exploration Module</a:t>
            </a:r>
            <a:endParaRPr/>
          </a:p>
          <a:p>
            <a:pPr indent="-219075" lvl="1" marL="457200" rtl="0" algn="l">
              <a:lnSpc>
                <a:spcPct val="100000"/>
              </a:lnSpc>
              <a:spcBef>
                <a:spcPts val="1000"/>
              </a:spcBef>
              <a:spcAft>
                <a:spcPts val="0"/>
              </a:spcAft>
              <a:buSzPct val="125000"/>
              <a:buChar char="•"/>
            </a:pPr>
            <a:r>
              <a:rPr lang="en"/>
              <a:t>Eye-tracking calibration.</a:t>
            </a:r>
            <a:endParaRPr/>
          </a:p>
          <a:p>
            <a:pPr indent="-219075" lvl="1" marL="457200" rtl="0" algn="l">
              <a:lnSpc>
                <a:spcPct val="100000"/>
              </a:lnSpc>
              <a:spcBef>
                <a:spcPts val="1000"/>
              </a:spcBef>
              <a:spcAft>
                <a:spcPts val="0"/>
              </a:spcAft>
              <a:buSzPct val="125000"/>
              <a:buChar char="•"/>
            </a:pPr>
            <a:r>
              <a:rPr lang="en"/>
              <a:t>Attention detection → heatmaps.</a:t>
            </a:r>
            <a:endParaRPr/>
          </a:p>
          <a:p>
            <a:pPr indent="-447675" lvl="0" marL="457200" rtl="0" algn="l">
              <a:lnSpc>
                <a:spcPct val="100000"/>
              </a:lnSpc>
              <a:spcBef>
                <a:spcPts val="1000"/>
              </a:spcBef>
              <a:spcAft>
                <a:spcPts val="0"/>
              </a:spcAft>
              <a:buSzPct val="111111"/>
              <a:buFont typeface="Gill Sans"/>
              <a:buAutoNum type="arabicPeriod"/>
            </a:pPr>
            <a:r>
              <a:rPr lang="en"/>
              <a:t>Conversational Interaction Module</a:t>
            </a:r>
            <a:endParaRPr/>
          </a:p>
          <a:p>
            <a:pPr indent="-219075" lvl="1" marL="457200" rtl="0" algn="l">
              <a:lnSpc>
                <a:spcPct val="100000"/>
              </a:lnSpc>
              <a:spcBef>
                <a:spcPts val="1000"/>
              </a:spcBef>
              <a:spcAft>
                <a:spcPts val="0"/>
              </a:spcAft>
              <a:buSzPct val="125000"/>
              <a:buChar char="•"/>
            </a:pPr>
            <a:r>
              <a:rPr lang="en"/>
              <a:t>Summarize photo.</a:t>
            </a:r>
            <a:endParaRPr/>
          </a:p>
          <a:p>
            <a:pPr indent="-219075" lvl="1" marL="457200" rtl="0" algn="l">
              <a:lnSpc>
                <a:spcPct val="100000"/>
              </a:lnSpc>
              <a:spcBef>
                <a:spcPts val="1000"/>
              </a:spcBef>
              <a:spcAft>
                <a:spcPts val="0"/>
              </a:spcAft>
              <a:buSzPct val="125000"/>
              <a:buChar char="•"/>
            </a:pPr>
            <a:r>
              <a:rPr lang="en"/>
              <a:t>Generate questions linked to user’s gaze + cultural context.</a:t>
            </a:r>
            <a:endParaRPr/>
          </a:p>
          <a:p>
            <a:pPr indent="-219075" lvl="1" marL="457200" rtl="0" algn="l">
              <a:lnSpc>
                <a:spcPct val="100000"/>
              </a:lnSpc>
              <a:spcBef>
                <a:spcPts val="1000"/>
              </a:spcBef>
              <a:spcAft>
                <a:spcPts val="0"/>
              </a:spcAft>
              <a:buSzPct val="125000"/>
              <a:buChar char="•"/>
            </a:pPr>
            <a:r>
              <a:rPr lang="en"/>
              <a:t>Voice-based conversation.</a:t>
            </a:r>
            <a:endParaRPr/>
          </a:p>
        </p:txBody>
      </p:sp>
      <p:sp>
        <p:nvSpPr>
          <p:cNvPr id="238" name="Google Shape;238;p39"/>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pic>
        <p:nvPicPr>
          <p:cNvPr id="239" name="Google Shape;239;p39"/>
          <p:cNvPicPr preferRelativeResize="0"/>
          <p:nvPr/>
        </p:nvPicPr>
        <p:blipFill>
          <a:blip r:embed="rId3">
            <a:alphaModFix/>
          </a:blip>
          <a:stretch>
            <a:fillRect/>
          </a:stretch>
        </p:blipFill>
        <p:spPr>
          <a:xfrm>
            <a:off x="5068650" y="1615050"/>
            <a:ext cx="4009950" cy="1684801"/>
          </a:xfrm>
          <a:prstGeom prst="rect">
            <a:avLst/>
          </a:prstGeom>
          <a:noFill/>
          <a:ln>
            <a:noFill/>
          </a:ln>
        </p:spPr>
      </p:pic>
      <p:pic>
        <p:nvPicPr>
          <p:cNvPr id="240" name="Google Shape;240;p39"/>
          <p:cNvPicPr preferRelativeResize="0"/>
          <p:nvPr/>
        </p:nvPicPr>
        <p:blipFill>
          <a:blip r:embed="rId4">
            <a:alphaModFix/>
          </a:blip>
          <a:stretch>
            <a:fillRect/>
          </a:stretch>
        </p:blipFill>
        <p:spPr>
          <a:xfrm>
            <a:off x="6080225" y="3299850"/>
            <a:ext cx="3063775" cy="1351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1606045" y="723519"/>
            <a:ext cx="5937900" cy="891600"/>
          </a:xfrm>
          <a:prstGeom prst="rect">
            <a:avLst/>
          </a:prstGeom>
        </p:spPr>
        <p:txBody>
          <a:bodyPr anchorCtr="0" anchor="ctr" bIns="182875" lIns="182875" spcFirstLastPara="1" rIns="182875" wrap="square" tIns="182875">
            <a:normAutofit/>
          </a:bodyPr>
          <a:lstStyle/>
          <a:p>
            <a:pPr indent="0" lvl="0" marL="0" rtl="0" algn="ctr">
              <a:spcBef>
                <a:spcPts val="0"/>
              </a:spcBef>
              <a:spcAft>
                <a:spcPts val="0"/>
              </a:spcAft>
              <a:buNone/>
            </a:pPr>
            <a:r>
              <a:rPr lang="en"/>
              <a:t>SOLUTION APPROACH (4/5)</a:t>
            </a:r>
            <a:endParaRPr/>
          </a:p>
        </p:txBody>
      </p:sp>
      <p:pic>
        <p:nvPicPr>
          <p:cNvPr id="246" name="Google Shape;246;p40"/>
          <p:cNvPicPr preferRelativeResize="0"/>
          <p:nvPr/>
        </p:nvPicPr>
        <p:blipFill>
          <a:blip r:embed="rId3">
            <a:alphaModFix/>
          </a:blip>
          <a:stretch>
            <a:fillRect/>
          </a:stretch>
        </p:blipFill>
        <p:spPr>
          <a:xfrm>
            <a:off x="1606050" y="1744044"/>
            <a:ext cx="7133727" cy="3223582"/>
          </a:xfrm>
          <a:prstGeom prst="rect">
            <a:avLst/>
          </a:prstGeom>
          <a:noFill/>
          <a:ln>
            <a:noFill/>
          </a:ln>
        </p:spPr>
      </p:pic>
      <p:sp>
        <p:nvSpPr>
          <p:cNvPr id="247" name="Google Shape;247;p40"/>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SOLUTION APPROACH (</a:t>
            </a:r>
            <a:r>
              <a:rPr lang="en"/>
              <a:t>5</a:t>
            </a:r>
            <a:r>
              <a:rPr lang="en" sz="2600" cap="none">
                <a:solidFill>
                  <a:srgbClr val="262626"/>
                </a:solidFill>
                <a:latin typeface="Gill Sans"/>
                <a:ea typeface="Gill Sans"/>
                <a:cs typeface="Gill Sans"/>
                <a:sym typeface="Gill Sans"/>
              </a:rPr>
              <a:t>/</a:t>
            </a:r>
            <a:r>
              <a:rPr lang="en"/>
              <a:t>5</a:t>
            </a:r>
            <a:r>
              <a:rPr lang="en" sz="2600" cap="none">
                <a:solidFill>
                  <a:srgbClr val="262626"/>
                </a:solidFill>
                <a:latin typeface="Gill Sans"/>
                <a:ea typeface="Gill Sans"/>
                <a:cs typeface="Gill Sans"/>
                <a:sym typeface="Gill Sans"/>
              </a:rPr>
              <a:t>)</a:t>
            </a:r>
            <a:endParaRPr/>
          </a:p>
        </p:txBody>
      </p:sp>
      <p:sp>
        <p:nvSpPr>
          <p:cNvPr id="253" name="Google Shape;253;p41"/>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fontScale="55000" lnSpcReduction="20000"/>
          </a:bodyPr>
          <a:lstStyle/>
          <a:p>
            <a:pPr indent="-131445" lvl="0" marL="228600" rtl="0" algn="l">
              <a:lnSpc>
                <a:spcPct val="100000"/>
              </a:lnSpc>
              <a:spcBef>
                <a:spcPts val="0"/>
              </a:spcBef>
              <a:spcAft>
                <a:spcPts val="0"/>
              </a:spcAft>
              <a:buSzPct val="100000"/>
              <a:buNone/>
            </a:pPr>
            <a:r>
              <a:t/>
            </a:r>
            <a:endParaRPr/>
          </a:p>
          <a:p>
            <a:pPr indent="-190500" lvl="0" marL="228600" rtl="0" algn="l">
              <a:lnSpc>
                <a:spcPct val="100000"/>
              </a:lnSpc>
              <a:spcBef>
                <a:spcPts val="1000"/>
              </a:spcBef>
              <a:spcAft>
                <a:spcPts val="0"/>
              </a:spcAft>
              <a:buSzPct val="111111"/>
              <a:buChar char="•"/>
            </a:pPr>
            <a:r>
              <a:rPr lang="en"/>
              <a:t>User Study (10 older adults, 60–84 yrs):</a:t>
            </a:r>
            <a:endParaRPr/>
          </a:p>
          <a:p>
            <a:pPr indent="-190500" lvl="1" marL="457200" rtl="0" algn="l">
              <a:lnSpc>
                <a:spcPct val="100000"/>
              </a:lnSpc>
              <a:spcBef>
                <a:spcPts val="1000"/>
              </a:spcBef>
              <a:spcAft>
                <a:spcPts val="0"/>
              </a:spcAft>
              <a:buSzPct val="125000"/>
              <a:buChar char="•"/>
            </a:pPr>
            <a:r>
              <a:rPr lang="en"/>
              <a:t>Pre-test: baseline mood + cognition.</a:t>
            </a:r>
            <a:endParaRPr/>
          </a:p>
          <a:p>
            <a:pPr indent="-190500" lvl="1" marL="457200" rtl="0" algn="l">
              <a:lnSpc>
                <a:spcPct val="100000"/>
              </a:lnSpc>
              <a:spcBef>
                <a:spcPts val="1000"/>
              </a:spcBef>
              <a:spcAft>
                <a:spcPts val="0"/>
              </a:spcAft>
              <a:buSzPct val="125000"/>
              <a:buChar char="•"/>
            </a:pPr>
            <a:r>
              <a:rPr lang="en"/>
              <a:t>System testing: explore old photos + AI chat.</a:t>
            </a:r>
            <a:endParaRPr/>
          </a:p>
          <a:p>
            <a:pPr indent="-190500" lvl="1" marL="457200" rtl="0" algn="l">
              <a:lnSpc>
                <a:spcPct val="100000"/>
              </a:lnSpc>
              <a:spcBef>
                <a:spcPts val="1000"/>
              </a:spcBef>
              <a:spcAft>
                <a:spcPts val="0"/>
              </a:spcAft>
              <a:buSzPct val="125000"/>
              <a:buChar char="•"/>
            </a:pPr>
            <a:r>
              <a:rPr lang="en"/>
              <a:t>Post-test: usability surveys + interviews.</a:t>
            </a:r>
            <a:endParaRPr/>
          </a:p>
          <a:p>
            <a:pPr indent="-190500" lvl="0" marL="228600" rtl="0" algn="l">
              <a:lnSpc>
                <a:spcPct val="100000"/>
              </a:lnSpc>
              <a:spcBef>
                <a:spcPts val="1000"/>
              </a:spcBef>
              <a:spcAft>
                <a:spcPts val="0"/>
              </a:spcAft>
              <a:buSzPct val="111111"/>
              <a:buChar char="•"/>
            </a:pPr>
            <a:r>
              <a:rPr lang="en"/>
              <a:t>Findings:</a:t>
            </a:r>
            <a:endParaRPr/>
          </a:p>
          <a:p>
            <a:pPr indent="-190500" lvl="1" marL="457200" rtl="0" algn="l">
              <a:lnSpc>
                <a:spcPct val="100000"/>
              </a:lnSpc>
              <a:spcBef>
                <a:spcPts val="1000"/>
              </a:spcBef>
              <a:spcAft>
                <a:spcPts val="0"/>
              </a:spcAft>
              <a:buSzPct val="125000"/>
              <a:buChar char="•"/>
            </a:pPr>
            <a:r>
              <a:rPr lang="en"/>
              <a:t>Easy &amp; natural interaction.</a:t>
            </a:r>
            <a:endParaRPr/>
          </a:p>
          <a:p>
            <a:pPr indent="-190500" lvl="1" marL="457200" rtl="0" algn="l">
              <a:lnSpc>
                <a:spcPct val="100000"/>
              </a:lnSpc>
              <a:spcBef>
                <a:spcPts val="1000"/>
              </a:spcBef>
              <a:spcAft>
                <a:spcPts val="0"/>
              </a:spcAft>
              <a:buSzPct val="125000"/>
              <a:buChar char="•"/>
            </a:pPr>
            <a:r>
              <a:rPr lang="en"/>
              <a:t>Improved mood (↑14% positive affect, ↓15% negative affect).</a:t>
            </a:r>
            <a:endParaRPr/>
          </a:p>
          <a:p>
            <a:pPr indent="-190500" lvl="1" marL="457200" rtl="0" algn="l">
              <a:lnSpc>
                <a:spcPct val="100000"/>
              </a:lnSpc>
              <a:spcBef>
                <a:spcPts val="1000"/>
              </a:spcBef>
              <a:spcAft>
                <a:spcPts val="0"/>
              </a:spcAft>
              <a:buSzPct val="125000"/>
              <a:buChar char="•"/>
            </a:pPr>
            <a:r>
              <a:rPr lang="en"/>
              <a:t>Personalized conversations tied to gaze.</a:t>
            </a:r>
            <a:endParaRPr/>
          </a:p>
        </p:txBody>
      </p:sp>
      <p:sp>
        <p:nvSpPr>
          <p:cNvPr id="254" name="Google Shape;254;p41"/>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pic>
        <p:nvPicPr>
          <p:cNvPr id="255" name="Google Shape;255;p41"/>
          <p:cNvPicPr preferRelativeResize="0"/>
          <p:nvPr/>
        </p:nvPicPr>
        <p:blipFill>
          <a:blip r:embed="rId3">
            <a:alphaModFix/>
          </a:blip>
          <a:stretch>
            <a:fillRect/>
          </a:stretch>
        </p:blipFill>
        <p:spPr>
          <a:xfrm>
            <a:off x="5383475" y="1631125"/>
            <a:ext cx="1721350" cy="2008225"/>
          </a:xfrm>
          <a:prstGeom prst="rect">
            <a:avLst/>
          </a:prstGeom>
          <a:noFill/>
          <a:ln>
            <a:noFill/>
          </a:ln>
        </p:spPr>
      </p:pic>
      <p:pic>
        <p:nvPicPr>
          <p:cNvPr id="256" name="Google Shape;256;p41"/>
          <p:cNvPicPr preferRelativeResize="0"/>
          <p:nvPr/>
        </p:nvPicPr>
        <p:blipFill>
          <a:blip r:embed="rId4">
            <a:alphaModFix/>
          </a:blip>
          <a:stretch>
            <a:fillRect/>
          </a:stretch>
        </p:blipFill>
        <p:spPr>
          <a:xfrm>
            <a:off x="7104825" y="1631125"/>
            <a:ext cx="1822325" cy="1948000"/>
          </a:xfrm>
          <a:prstGeom prst="rect">
            <a:avLst/>
          </a:prstGeom>
          <a:noFill/>
          <a:ln>
            <a:noFill/>
          </a:ln>
        </p:spPr>
      </p:pic>
      <p:pic>
        <p:nvPicPr>
          <p:cNvPr id="257" name="Google Shape;257;p41"/>
          <p:cNvPicPr preferRelativeResize="0"/>
          <p:nvPr/>
        </p:nvPicPr>
        <p:blipFill>
          <a:blip r:embed="rId5">
            <a:alphaModFix/>
          </a:blip>
          <a:stretch>
            <a:fillRect/>
          </a:stretch>
        </p:blipFill>
        <p:spPr>
          <a:xfrm>
            <a:off x="6397600" y="3639350"/>
            <a:ext cx="1648800" cy="1504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SUBSEQUENT ADVANCEMENTS</a:t>
            </a:r>
            <a:endParaRPr/>
          </a:p>
        </p:txBody>
      </p:sp>
      <p:sp>
        <p:nvSpPr>
          <p:cNvPr id="263" name="Google Shape;263;p42"/>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fontScale="55000" lnSpcReduction="20000"/>
          </a:bodyPr>
          <a:lstStyle/>
          <a:p>
            <a:pPr indent="-131445" lvl="0" marL="228600" rtl="0" algn="l">
              <a:lnSpc>
                <a:spcPct val="100000"/>
              </a:lnSpc>
              <a:spcBef>
                <a:spcPts val="0"/>
              </a:spcBef>
              <a:spcAft>
                <a:spcPts val="0"/>
              </a:spcAft>
              <a:buSzPct val="100000"/>
              <a:buNone/>
            </a:pPr>
            <a:r>
              <a:t/>
            </a:r>
            <a:endParaRPr/>
          </a:p>
          <a:p>
            <a:pPr indent="-190500" lvl="0" marL="228600" rtl="0" algn="l">
              <a:lnSpc>
                <a:spcPct val="100000"/>
              </a:lnSpc>
              <a:spcBef>
                <a:spcPts val="1000"/>
              </a:spcBef>
              <a:spcAft>
                <a:spcPts val="0"/>
              </a:spcAft>
              <a:buSzPct val="111111"/>
              <a:buChar char="•"/>
            </a:pPr>
            <a:r>
              <a:rPr lang="en"/>
              <a:t>Similar research in AI reminiscence systems:</a:t>
            </a:r>
            <a:endParaRPr/>
          </a:p>
          <a:p>
            <a:pPr indent="-190500" lvl="1" marL="457200" rtl="0" algn="l">
              <a:lnSpc>
                <a:spcPct val="100000"/>
              </a:lnSpc>
              <a:spcBef>
                <a:spcPts val="1000"/>
              </a:spcBef>
              <a:spcAft>
                <a:spcPts val="0"/>
              </a:spcAft>
              <a:buSzPct val="125000"/>
              <a:buChar char="•"/>
            </a:pPr>
            <a:r>
              <a:rPr lang="en"/>
              <a:t>GoodTimes – AI photo album (Wang et al.).</a:t>
            </a:r>
            <a:endParaRPr/>
          </a:p>
          <a:p>
            <a:pPr indent="-190500" lvl="1" marL="457200" rtl="0" algn="l">
              <a:lnSpc>
                <a:spcPct val="100000"/>
              </a:lnSpc>
              <a:spcBef>
                <a:spcPts val="1000"/>
              </a:spcBef>
              <a:spcAft>
                <a:spcPts val="0"/>
              </a:spcAft>
              <a:buSzPct val="125000"/>
              <a:buChar char="•"/>
            </a:pPr>
            <a:r>
              <a:rPr lang="en"/>
              <a:t>Voice-based chatbots for dementia care.</a:t>
            </a:r>
            <a:endParaRPr/>
          </a:p>
          <a:p>
            <a:pPr indent="-190500" lvl="0" marL="228600" rtl="0" algn="l">
              <a:lnSpc>
                <a:spcPct val="100000"/>
              </a:lnSpc>
              <a:spcBef>
                <a:spcPts val="1000"/>
              </a:spcBef>
              <a:spcAft>
                <a:spcPts val="0"/>
              </a:spcAft>
              <a:buSzPct val="111111"/>
              <a:buChar char="•"/>
            </a:pPr>
            <a:r>
              <a:rPr lang="en"/>
              <a:t>Eye2Recall extends this by fusing gaze data with LLMs.</a:t>
            </a:r>
            <a:endParaRPr/>
          </a:p>
          <a:p>
            <a:pPr indent="-190500" lvl="0" marL="228600" rtl="0" algn="l">
              <a:lnSpc>
                <a:spcPct val="100000"/>
              </a:lnSpc>
              <a:spcBef>
                <a:spcPts val="1000"/>
              </a:spcBef>
              <a:spcAft>
                <a:spcPts val="0"/>
              </a:spcAft>
              <a:buSzPct val="111111"/>
              <a:buChar char="•"/>
            </a:pPr>
            <a:r>
              <a:rPr lang="en"/>
              <a:t>Future opportunities:</a:t>
            </a:r>
            <a:endParaRPr/>
          </a:p>
          <a:p>
            <a:pPr indent="-190500" lvl="1" marL="457200" rtl="0" algn="l">
              <a:lnSpc>
                <a:spcPct val="100000"/>
              </a:lnSpc>
              <a:spcBef>
                <a:spcPts val="1000"/>
              </a:spcBef>
              <a:spcAft>
                <a:spcPts val="0"/>
              </a:spcAft>
              <a:buSzPct val="125000"/>
              <a:buChar char="•"/>
            </a:pPr>
            <a:r>
              <a:rPr lang="en"/>
              <a:t>Emotional sentiment detection.</a:t>
            </a:r>
            <a:endParaRPr/>
          </a:p>
          <a:p>
            <a:pPr indent="-190500" lvl="1" marL="457200" rtl="0" algn="l">
              <a:lnSpc>
                <a:spcPct val="100000"/>
              </a:lnSpc>
              <a:spcBef>
                <a:spcPts val="1000"/>
              </a:spcBef>
              <a:spcAft>
                <a:spcPts val="0"/>
              </a:spcAft>
              <a:buSzPct val="125000"/>
              <a:buChar char="•"/>
            </a:pPr>
            <a:r>
              <a:rPr lang="en"/>
              <a:t>Digital legacy preservation (family memory archives).</a:t>
            </a:r>
            <a:endParaRPr/>
          </a:p>
          <a:p>
            <a:pPr indent="-190500" lvl="1" marL="457200" rtl="0" algn="l">
              <a:lnSpc>
                <a:spcPct val="100000"/>
              </a:lnSpc>
              <a:spcBef>
                <a:spcPts val="1000"/>
              </a:spcBef>
              <a:spcAft>
                <a:spcPts val="0"/>
              </a:spcAft>
              <a:buSzPct val="125000"/>
              <a:buChar char="•"/>
            </a:pPr>
            <a:r>
              <a:rPr lang="en"/>
              <a:t>Larger, diverse participant groups.</a:t>
            </a:r>
            <a:endParaRPr/>
          </a:p>
        </p:txBody>
      </p:sp>
      <p:sp>
        <p:nvSpPr>
          <p:cNvPr id="264" name="Google Shape;264;p42"/>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STRENGTHS</a:t>
            </a:r>
            <a:endParaRPr/>
          </a:p>
        </p:txBody>
      </p:sp>
      <p:sp>
        <p:nvSpPr>
          <p:cNvPr id="270" name="Google Shape;270;p43"/>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a:bodyPr>
          <a:lstStyle/>
          <a:p>
            <a:pPr indent="-114300" lvl="0" marL="228600" rtl="0" algn="l">
              <a:lnSpc>
                <a:spcPct val="100000"/>
              </a:lnSpc>
              <a:spcBef>
                <a:spcPts val="0"/>
              </a:spcBef>
              <a:spcAft>
                <a:spcPts val="0"/>
              </a:spcAft>
              <a:buSzPts val="1800"/>
              <a:buNone/>
            </a:pPr>
            <a:r>
              <a:t/>
            </a:r>
            <a:endParaRPr/>
          </a:p>
          <a:p>
            <a:pPr indent="-457200" lvl="0" marL="457200" rtl="0" algn="l">
              <a:lnSpc>
                <a:spcPct val="100000"/>
              </a:lnSpc>
              <a:spcBef>
                <a:spcPts val="1000"/>
              </a:spcBef>
              <a:spcAft>
                <a:spcPts val="0"/>
              </a:spcAft>
              <a:buSzPts val="2000"/>
              <a:buFont typeface="Gill Sans"/>
              <a:buAutoNum type="arabicPeriod"/>
            </a:pPr>
            <a:r>
              <a:rPr lang="en"/>
              <a:t>✅ Natural, low-effort interaction (eye + voice).</a:t>
            </a:r>
            <a:endParaRPr/>
          </a:p>
          <a:p>
            <a:pPr indent="-457200" lvl="0" marL="457200" rtl="0" algn="l">
              <a:lnSpc>
                <a:spcPct val="100000"/>
              </a:lnSpc>
              <a:spcBef>
                <a:spcPts val="1000"/>
              </a:spcBef>
              <a:spcAft>
                <a:spcPts val="0"/>
              </a:spcAft>
              <a:buSzPts val="2000"/>
              <a:buFont typeface="Gill Sans"/>
              <a:buAutoNum type="arabicPeriod"/>
            </a:pPr>
            <a:r>
              <a:rPr lang="en"/>
              <a:t>✅ Personalized &amp; engaging reminiscence.</a:t>
            </a:r>
            <a:endParaRPr/>
          </a:p>
          <a:p>
            <a:pPr indent="-457200" lvl="0" marL="457200" rtl="0" algn="l">
              <a:lnSpc>
                <a:spcPct val="100000"/>
              </a:lnSpc>
              <a:spcBef>
                <a:spcPts val="1000"/>
              </a:spcBef>
              <a:spcAft>
                <a:spcPts val="0"/>
              </a:spcAft>
              <a:buSzPts val="2000"/>
              <a:buFont typeface="Gill Sans"/>
              <a:buAutoNum type="arabicPeriod"/>
            </a:pPr>
            <a:r>
              <a:rPr lang="en"/>
              <a:t>✅ Improved emotional well-being.</a:t>
            </a:r>
            <a:endParaRPr/>
          </a:p>
          <a:p>
            <a:pPr indent="-457200" lvl="0" marL="457200" rtl="0" algn="l">
              <a:lnSpc>
                <a:spcPct val="100000"/>
              </a:lnSpc>
              <a:spcBef>
                <a:spcPts val="1000"/>
              </a:spcBef>
              <a:spcAft>
                <a:spcPts val="0"/>
              </a:spcAft>
              <a:buSzPts val="2000"/>
              <a:buFont typeface="Gill Sans"/>
              <a:buAutoNum type="arabicPeriod"/>
            </a:pPr>
            <a:r>
              <a:rPr lang="en"/>
              <a:t>✅ Provides design guidelines for aging-centered HCI.</a:t>
            </a:r>
            <a:endParaRPr/>
          </a:p>
        </p:txBody>
      </p:sp>
      <p:sp>
        <p:nvSpPr>
          <p:cNvPr id="271" name="Google Shape;271;p43"/>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WEAKNESSES</a:t>
            </a:r>
            <a:endParaRPr/>
          </a:p>
        </p:txBody>
      </p:sp>
      <p:sp>
        <p:nvSpPr>
          <p:cNvPr id="277" name="Google Shape;277;p44"/>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a:bodyPr>
          <a:lstStyle/>
          <a:p>
            <a:pPr indent="-114300" lvl="0" marL="228600" rtl="0" algn="l">
              <a:lnSpc>
                <a:spcPct val="100000"/>
              </a:lnSpc>
              <a:spcBef>
                <a:spcPts val="0"/>
              </a:spcBef>
              <a:spcAft>
                <a:spcPts val="0"/>
              </a:spcAft>
              <a:buSzPts val="1800"/>
              <a:buNone/>
            </a:pPr>
            <a:r>
              <a:t/>
            </a:r>
            <a:endParaRPr/>
          </a:p>
          <a:p>
            <a:pPr indent="-457200" lvl="0" marL="457200" rtl="0" algn="l">
              <a:lnSpc>
                <a:spcPct val="100000"/>
              </a:lnSpc>
              <a:spcBef>
                <a:spcPts val="1000"/>
              </a:spcBef>
              <a:spcAft>
                <a:spcPts val="0"/>
              </a:spcAft>
              <a:buSzPts val="2000"/>
              <a:buFont typeface="Gill Sans"/>
              <a:buAutoNum type="arabicPeriod"/>
            </a:pPr>
            <a:r>
              <a:rPr lang="en"/>
              <a:t>⚠ Small sample size (10, all Chinese seniors).</a:t>
            </a:r>
            <a:endParaRPr/>
          </a:p>
          <a:p>
            <a:pPr indent="-457200" lvl="0" marL="457200" rtl="0" algn="l">
              <a:lnSpc>
                <a:spcPct val="100000"/>
              </a:lnSpc>
              <a:spcBef>
                <a:spcPts val="1000"/>
              </a:spcBef>
              <a:spcAft>
                <a:spcPts val="0"/>
              </a:spcAft>
              <a:buSzPts val="2000"/>
              <a:buFont typeface="Gill Sans"/>
              <a:buAutoNum type="arabicPeriod"/>
            </a:pPr>
            <a:r>
              <a:rPr lang="en"/>
              <a:t>⚠ Limited longitudinal evaluation.</a:t>
            </a:r>
            <a:endParaRPr/>
          </a:p>
          <a:p>
            <a:pPr indent="-457200" lvl="0" marL="457200" rtl="0" algn="l">
              <a:lnSpc>
                <a:spcPct val="100000"/>
              </a:lnSpc>
              <a:spcBef>
                <a:spcPts val="1000"/>
              </a:spcBef>
              <a:spcAft>
                <a:spcPts val="0"/>
              </a:spcAft>
              <a:buSzPts val="2000"/>
              <a:buFont typeface="Gill Sans"/>
              <a:buAutoNum type="arabicPeriod"/>
            </a:pPr>
            <a:r>
              <a:rPr lang="en"/>
              <a:t>⚠ Technical limitations (OCR errors, AI pauses).</a:t>
            </a:r>
            <a:endParaRPr/>
          </a:p>
          <a:p>
            <a:pPr indent="-457200" lvl="0" marL="457200" rtl="0" algn="l">
              <a:lnSpc>
                <a:spcPct val="100000"/>
              </a:lnSpc>
              <a:spcBef>
                <a:spcPts val="1000"/>
              </a:spcBef>
              <a:spcAft>
                <a:spcPts val="0"/>
              </a:spcAft>
              <a:buSzPts val="2000"/>
              <a:buFont typeface="Gill Sans"/>
              <a:buAutoNum type="arabicPeriod"/>
            </a:pPr>
            <a:r>
              <a:rPr lang="en"/>
              <a:t>⚠ Some privacy/ethical concerns.</a:t>
            </a:r>
            <a:endParaRPr/>
          </a:p>
        </p:txBody>
      </p:sp>
      <p:sp>
        <p:nvSpPr>
          <p:cNvPr id="278" name="Google Shape;278;p44"/>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DISCUSSION POINTS</a:t>
            </a:r>
            <a:endParaRPr/>
          </a:p>
        </p:txBody>
      </p:sp>
      <p:sp>
        <p:nvSpPr>
          <p:cNvPr id="284" name="Google Shape;284;p45"/>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lnSpcReduction="20000"/>
          </a:bodyPr>
          <a:lstStyle/>
          <a:p>
            <a:pPr indent="-114300" lvl="0" marL="228600" rtl="0" algn="l">
              <a:lnSpc>
                <a:spcPct val="100000"/>
              </a:lnSpc>
              <a:spcBef>
                <a:spcPts val="0"/>
              </a:spcBef>
              <a:spcAft>
                <a:spcPts val="0"/>
              </a:spcAft>
              <a:buSzPts val="1800"/>
              <a:buNone/>
            </a:pPr>
            <a:r>
              <a:t/>
            </a:r>
            <a:endParaRPr/>
          </a:p>
          <a:p>
            <a:pPr indent="-228600" lvl="0" marL="228600" rtl="0" algn="l">
              <a:lnSpc>
                <a:spcPct val="100000"/>
              </a:lnSpc>
              <a:spcBef>
                <a:spcPts val="1000"/>
              </a:spcBef>
              <a:spcAft>
                <a:spcPts val="0"/>
              </a:spcAft>
              <a:buSzPts val="2000"/>
              <a:buChar char="•"/>
            </a:pPr>
            <a:r>
              <a:rPr lang="en" sz="2000"/>
              <a:t>Should reminiscence systems capture &amp; store a digital legacy for families?</a:t>
            </a:r>
            <a:endParaRPr/>
          </a:p>
          <a:p>
            <a:pPr indent="-228600" lvl="0" marL="228600" rtl="0" algn="l">
              <a:lnSpc>
                <a:spcPct val="100000"/>
              </a:lnSpc>
              <a:spcBef>
                <a:spcPts val="1000"/>
              </a:spcBef>
              <a:spcAft>
                <a:spcPts val="0"/>
              </a:spcAft>
              <a:buSzPts val="2000"/>
              <a:buChar char="•"/>
            </a:pPr>
            <a:r>
              <a:rPr lang="en" sz="2000"/>
              <a:t>How to balance personalization vs. privacy?</a:t>
            </a:r>
            <a:endParaRPr/>
          </a:p>
          <a:p>
            <a:pPr indent="-228600" lvl="0" marL="228600" rtl="0" algn="l">
              <a:lnSpc>
                <a:spcPct val="100000"/>
              </a:lnSpc>
              <a:spcBef>
                <a:spcPts val="1000"/>
              </a:spcBef>
              <a:spcAft>
                <a:spcPts val="0"/>
              </a:spcAft>
              <a:buSzPts val="2000"/>
              <a:buChar char="•"/>
            </a:pPr>
            <a:r>
              <a:rPr lang="en" sz="2000"/>
              <a:t>Can this be extended for cross-cultural older adults?</a:t>
            </a:r>
            <a:endParaRPr/>
          </a:p>
          <a:p>
            <a:pPr indent="-228600" lvl="0" marL="228600" rtl="0" algn="l">
              <a:lnSpc>
                <a:spcPct val="100000"/>
              </a:lnSpc>
              <a:spcBef>
                <a:spcPts val="1000"/>
              </a:spcBef>
              <a:spcAft>
                <a:spcPts val="0"/>
              </a:spcAft>
              <a:buSzPts val="2000"/>
              <a:buChar char="•"/>
            </a:pPr>
            <a:r>
              <a:rPr lang="en" sz="2000"/>
              <a:t>Ethical concerns if AI-generated prompts trigger negative emotions.</a:t>
            </a:r>
            <a:endParaRPr/>
          </a:p>
        </p:txBody>
      </p:sp>
      <p:sp>
        <p:nvSpPr>
          <p:cNvPr id="285" name="Google Shape;285;p45"/>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sz="2600" cap="none">
                <a:solidFill>
                  <a:srgbClr val="262626"/>
                </a:solidFill>
                <a:latin typeface="Gill Sans"/>
                <a:ea typeface="Gill Sans"/>
                <a:cs typeface="Gill Sans"/>
                <a:sym typeface="Gill Sans"/>
              </a:rPr>
              <a:t>CONCLUSION</a:t>
            </a:r>
            <a:endParaRPr/>
          </a:p>
        </p:txBody>
      </p:sp>
      <p:sp>
        <p:nvSpPr>
          <p:cNvPr id="291" name="Google Shape;291;p46"/>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fontScale="70000" lnSpcReduction="20000"/>
          </a:bodyPr>
          <a:lstStyle/>
          <a:p>
            <a:pPr indent="-122872" lvl="0" marL="228600" rtl="0" algn="l">
              <a:lnSpc>
                <a:spcPct val="100000"/>
              </a:lnSpc>
              <a:spcBef>
                <a:spcPts val="0"/>
              </a:spcBef>
              <a:spcAft>
                <a:spcPts val="0"/>
              </a:spcAft>
              <a:buSzPct val="100000"/>
              <a:buNone/>
            </a:pPr>
            <a:r>
              <a:t/>
            </a:r>
            <a:endParaRPr/>
          </a:p>
          <a:p>
            <a:pPr indent="-200025" lvl="0" marL="228600" rtl="0" algn="l">
              <a:lnSpc>
                <a:spcPct val="100000"/>
              </a:lnSpc>
              <a:spcBef>
                <a:spcPts val="1000"/>
              </a:spcBef>
              <a:spcAft>
                <a:spcPts val="0"/>
              </a:spcAft>
              <a:buSzPct val="111111"/>
              <a:buChar char="•"/>
            </a:pPr>
            <a:r>
              <a:rPr lang="en"/>
              <a:t>Eye2Recall = first system merging eye-tracking + LLMs for reminiscence.</a:t>
            </a:r>
            <a:endParaRPr/>
          </a:p>
          <a:p>
            <a:pPr indent="-200025" lvl="0" marL="228600" rtl="0" algn="l">
              <a:lnSpc>
                <a:spcPct val="100000"/>
              </a:lnSpc>
              <a:spcBef>
                <a:spcPts val="1000"/>
              </a:spcBef>
              <a:spcAft>
                <a:spcPts val="0"/>
              </a:spcAft>
              <a:buSzPct val="111111"/>
              <a:buChar char="•"/>
            </a:pPr>
            <a:r>
              <a:rPr lang="en"/>
              <a:t>Contributions:</a:t>
            </a:r>
            <a:endParaRPr/>
          </a:p>
          <a:p>
            <a:pPr indent="-200025" lvl="1" marL="457200" rtl="0" algn="l">
              <a:lnSpc>
                <a:spcPct val="100000"/>
              </a:lnSpc>
              <a:spcBef>
                <a:spcPts val="1000"/>
              </a:spcBef>
              <a:spcAft>
                <a:spcPts val="0"/>
              </a:spcAft>
              <a:buSzPct val="125000"/>
              <a:buChar char="•"/>
            </a:pPr>
            <a:r>
              <a:rPr lang="en"/>
              <a:t>Novel system design.</a:t>
            </a:r>
            <a:endParaRPr/>
          </a:p>
          <a:p>
            <a:pPr indent="-200025" lvl="1" marL="457200" rtl="0" algn="l">
              <a:lnSpc>
                <a:spcPct val="100000"/>
              </a:lnSpc>
              <a:spcBef>
                <a:spcPts val="1000"/>
              </a:spcBef>
              <a:spcAft>
                <a:spcPts val="0"/>
              </a:spcAft>
              <a:buSzPct val="125000"/>
              <a:buChar char="•"/>
            </a:pPr>
            <a:r>
              <a:rPr lang="en"/>
              <a:t>Expert-informed guidelines.</a:t>
            </a:r>
            <a:endParaRPr/>
          </a:p>
          <a:p>
            <a:pPr indent="-200025" lvl="1" marL="457200" rtl="0" algn="l">
              <a:lnSpc>
                <a:spcPct val="100000"/>
              </a:lnSpc>
              <a:spcBef>
                <a:spcPts val="1000"/>
              </a:spcBef>
              <a:spcAft>
                <a:spcPts val="0"/>
              </a:spcAft>
              <a:buSzPct val="125000"/>
              <a:buChar char="•"/>
            </a:pPr>
            <a:r>
              <a:rPr lang="en"/>
              <a:t>User study validating positive impact.</a:t>
            </a:r>
            <a:endParaRPr/>
          </a:p>
          <a:p>
            <a:pPr indent="-200025" lvl="0" marL="228600" rtl="0" algn="l">
              <a:lnSpc>
                <a:spcPct val="100000"/>
              </a:lnSpc>
              <a:spcBef>
                <a:spcPts val="1000"/>
              </a:spcBef>
              <a:spcAft>
                <a:spcPts val="0"/>
              </a:spcAft>
              <a:buSzPct val="111111"/>
              <a:buChar char="•"/>
            </a:pPr>
            <a:r>
              <a:rPr lang="en"/>
              <a:t>Takeaway: Enhancing older adults’ well-being via natural, intuitive, AI-powered reminiscence.</a:t>
            </a:r>
            <a:endParaRPr/>
          </a:p>
        </p:txBody>
      </p:sp>
      <p:sp>
        <p:nvSpPr>
          <p:cNvPr id="292" name="Google Shape;292;p46"/>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7"/>
          <p:cNvSpPr txBox="1"/>
          <p:nvPr>
            <p:ph type="title"/>
          </p:nvPr>
        </p:nvSpPr>
        <p:spPr>
          <a:xfrm>
            <a:off x="1606045" y="723519"/>
            <a:ext cx="5937900" cy="89160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600"/>
              <a:buFont typeface="Gill Sans"/>
              <a:buNone/>
            </a:pPr>
            <a:r>
              <a:rPr lang="en"/>
              <a:t>THANK YOU</a:t>
            </a:r>
            <a:endParaRPr/>
          </a:p>
        </p:txBody>
      </p:sp>
      <p:sp>
        <p:nvSpPr>
          <p:cNvPr id="298" name="Google Shape;298;p47"/>
          <p:cNvSpPr txBox="1"/>
          <p:nvPr>
            <p:ph idx="1" type="body"/>
          </p:nvPr>
        </p:nvSpPr>
        <p:spPr>
          <a:xfrm>
            <a:off x="1606045" y="1978534"/>
            <a:ext cx="5937900" cy="23265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lang="en" u="sng"/>
              <a:t>References</a:t>
            </a:r>
            <a:endParaRPr/>
          </a:p>
          <a:p>
            <a:pPr indent="-228600" lvl="0" marL="228600" rtl="0" algn="l">
              <a:lnSpc>
                <a:spcPct val="100000"/>
              </a:lnSpc>
              <a:spcBef>
                <a:spcPts val="1000"/>
              </a:spcBef>
              <a:spcAft>
                <a:spcPts val="0"/>
              </a:spcAft>
              <a:buSzPts val="2000"/>
              <a:buChar char="•"/>
            </a:pPr>
            <a:r>
              <a:rPr lang="en" sz="2000" u="sng">
                <a:solidFill>
                  <a:schemeClr val="hlink"/>
                </a:solidFill>
                <a:hlinkClick r:id="rId3"/>
              </a:rPr>
              <a:t>https://arxiv.org/abs/2508.02232v1</a:t>
            </a:r>
            <a:endParaRPr sz="2000"/>
          </a:p>
          <a:p>
            <a:pPr indent="-228600" lvl="0" marL="228600" rtl="0" algn="l">
              <a:lnSpc>
                <a:spcPct val="100000"/>
              </a:lnSpc>
              <a:spcBef>
                <a:spcPts val="1000"/>
              </a:spcBef>
              <a:spcAft>
                <a:spcPts val="0"/>
              </a:spcAft>
              <a:buSzPts val="2000"/>
              <a:buChar char="•"/>
            </a:pPr>
            <a:r>
              <a:rPr lang="en" sz="2000" u="sng">
                <a:solidFill>
                  <a:schemeClr val="hlink"/>
                </a:solidFill>
                <a:hlinkClick r:id="rId4"/>
              </a:rPr>
              <a:t>https://arxiv.org/pdf/2508.02232</a:t>
            </a:r>
            <a:endParaRPr sz="2000"/>
          </a:p>
          <a:p>
            <a:pPr indent="-114300" lvl="0" marL="228600" rtl="0" algn="l">
              <a:lnSpc>
                <a:spcPct val="100000"/>
              </a:lnSpc>
              <a:spcBef>
                <a:spcPts val="1000"/>
              </a:spcBef>
              <a:spcAft>
                <a:spcPts val="0"/>
              </a:spcAft>
              <a:buSzPts val="1800"/>
              <a:buNone/>
            </a:pPr>
            <a:r>
              <a:t/>
            </a:r>
            <a:endParaRPr/>
          </a:p>
          <a:p>
            <a:pPr indent="-228600" lvl="0" marL="228600" rtl="0" algn="l">
              <a:lnSpc>
                <a:spcPct val="100000"/>
              </a:lnSpc>
              <a:spcBef>
                <a:spcPts val="1000"/>
              </a:spcBef>
              <a:spcAft>
                <a:spcPts val="0"/>
              </a:spcAft>
              <a:buSzPts val="2000"/>
              <a:buChar char="•"/>
            </a:pPr>
            <a:r>
              <a:rPr lang="en"/>
              <a:t>Any Questions?</a:t>
            </a:r>
            <a:endParaRPr/>
          </a:p>
        </p:txBody>
      </p:sp>
      <p:sp>
        <p:nvSpPr>
          <p:cNvPr id="299" name="Google Shape;299;p47"/>
          <p:cNvSpPr/>
          <p:nvPr>
            <p:ph idx="12" type="sldNum"/>
          </p:nvPr>
        </p:nvSpPr>
        <p:spPr>
          <a:xfrm>
            <a:off x="8240112" y="4663440"/>
            <a:ext cx="365700" cy="274200"/>
          </a:xfrm>
          <a:prstGeom prst="ellipse">
            <a:avLst/>
          </a:prstGeom>
          <a:solidFill>
            <a:srgbClr val="1D1D1D">
              <a:alpha val="69800"/>
            </a:srgbClr>
          </a:solid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